
<file path=[Content_Types].xml><?xml version="1.0" encoding="utf-8"?>
<Types xmlns="http://schemas.openxmlformats.org/package/2006/content-types">
  <Default ContentType="image/jpeg" Extension="jpg"/>
  <Default ContentType="application/x-fontdata" Extension="fntdata"/>
  <Default ContentType="image/gif" Extension="gif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19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9" r:id="rId5"/>
  </p:sldMasterIdLst>
  <p:notesMasterIdLst>
    <p:notesMasterId r:id="rId6"/>
  </p:notes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</p:sldIdLst>
  <p:sldSz cy="5143500" cx="9144000"/>
  <p:notesSz cx="6858000" cy="9144000"/>
  <p:embeddedFontLst>
    <p:embeddedFont>
      <p:font typeface="Montserrat"/>
      <p:regular r:id="rId26"/>
      <p:bold r:id="rId27"/>
      <p:italic r:id="rId28"/>
      <p:boldItalic r:id="rId29"/>
    </p:embeddedFont>
    <p:embeddedFont>
      <p:font typeface="Lato"/>
      <p:regular r:id="rId30"/>
      <p:bold r:id="rId31"/>
      <p:italic r:id="rId32"/>
      <p:boldItalic r:id="rId33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A53319A4-BB05-4323-826D-80545E43B7DE}">
  <a:tblStyle styleId="{A53319A4-BB05-4323-826D-80545E43B7DE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left>
          <a:right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right>
          <a:top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top>
          <a:bottom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bottom>
          <a:insideH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insideH>
          <a:insideV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insideV>
        </a:tcBdr>
      </a:tcStyle>
    </a:wholeTbl>
    <a:band1H>
      <a:tcTxStyle/>
    </a:band1H>
    <a:band2H>
      <a:tcTxStyle/>
    </a:band2H>
    <a:band1V>
      <a:tcTxStyle/>
    </a:band1V>
    <a:band2V>
      <a:tcTxStyle/>
    </a:band2V>
    <a:lastCol>
      <a:tcTxStyle/>
    </a:lastCol>
    <a:firstCol>
      <a:tcTxStyle/>
    </a:firstCol>
    <a:lastRow>
      <a:tcTxStyle/>
    </a:lastRow>
    <a:seCell>
      <a:tcTxStyle/>
    </a:seCell>
    <a:swCell>
      <a:tcTxStyle/>
    </a:swCell>
    <a:firstRow>
      <a:tcTxStyle/>
    </a:firstRow>
    <a:neCell>
      <a:tcTxStyle/>
    </a:neCell>
    <a:nwCell>
      <a:tcTxStyle/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slide" Target="slides/slide14.xml"/><Relationship Id="rId22" Type="http://schemas.openxmlformats.org/officeDocument/2006/relationships/slide" Target="slides/slide16.xml"/><Relationship Id="rId21" Type="http://schemas.openxmlformats.org/officeDocument/2006/relationships/slide" Target="slides/slide15.xml"/><Relationship Id="rId24" Type="http://schemas.openxmlformats.org/officeDocument/2006/relationships/slide" Target="slides/slide18.xml"/><Relationship Id="rId23" Type="http://schemas.openxmlformats.org/officeDocument/2006/relationships/slide" Target="slides/slide17.xml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tableStyles" Target="tableStyles.xml"/><Relationship Id="rId9" Type="http://schemas.openxmlformats.org/officeDocument/2006/relationships/slide" Target="slides/slide3.xml"/><Relationship Id="rId26" Type="http://schemas.openxmlformats.org/officeDocument/2006/relationships/font" Target="fonts/Montserrat-regular.fntdata"/><Relationship Id="rId25" Type="http://schemas.openxmlformats.org/officeDocument/2006/relationships/slide" Target="slides/slide19.xml"/><Relationship Id="rId28" Type="http://schemas.openxmlformats.org/officeDocument/2006/relationships/font" Target="fonts/Montserrat-italic.fntdata"/><Relationship Id="rId27" Type="http://schemas.openxmlformats.org/officeDocument/2006/relationships/font" Target="fonts/Montserrat-bold.fntdata"/><Relationship Id="rId5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29" Type="http://schemas.openxmlformats.org/officeDocument/2006/relationships/font" Target="fonts/Montserrat-boldItalic.fntdata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31" Type="http://schemas.openxmlformats.org/officeDocument/2006/relationships/font" Target="fonts/Lato-bold.fntdata"/><Relationship Id="rId30" Type="http://schemas.openxmlformats.org/officeDocument/2006/relationships/font" Target="fonts/Lato-regular.fntdata"/><Relationship Id="rId11" Type="http://schemas.openxmlformats.org/officeDocument/2006/relationships/slide" Target="slides/slide5.xml"/><Relationship Id="rId33" Type="http://schemas.openxmlformats.org/officeDocument/2006/relationships/font" Target="fonts/Lato-boldItalic.fntdata"/><Relationship Id="rId10" Type="http://schemas.openxmlformats.org/officeDocument/2006/relationships/slide" Target="slides/slide4.xml"/><Relationship Id="rId32" Type="http://schemas.openxmlformats.org/officeDocument/2006/relationships/font" Target="fonts/Lato-italic.fntdata"/><Relationship Id="rId13" Type="http://schemas.openxmlformats.org/officeDocument/2006/relationships/slide" Target="slides/slide7.xml"/><Relationship Id="rId12" Type="http://schemas.openxmlformats.org/officeDocument/2006/relationships/slide" Target="slides/slide6.xml"/><Relationship Id="rId15" Type="http://schemas.openxmlformats.org/officeDocument/2006/relationships/slide" Target="slides/slide9.xml"/><Relationship Id="rId14" Type="http://schemas.openxmlformats.org/officeDocument/2006/relationships/slide" Target="slides/slide8.xml"/><Relationship Id="rId17" Type="http://schemas.openxmlformats.org/officeDocument/2006/relationships/slide" Target="slides/slide11.xml"/><Relationship Id="rId16" Type="http://schemas.openxmlformats.org/officeDocument/2006/relationships/slide" Target="slides/slide10.xml"/><Relationship Id="rId19" Type="http://schemas.openxmlformats.org/officeDocument/2006/relationships/slide" Target="slides/slide13.xml"/><Relationship Id="rId18" Type="http://schemas.openxmlformats.org/officeDocument/2006/relationships/slide" Target="slides/slide12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0" name="Shape 1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" name="Google Shape;131;p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2" name="Google Shape;132;p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7" name="Shape 1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" name="Google Shape;138;g3a95e411b9a_2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9" name="Google Shape;139;g3a95e411b9a_2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3" name="Shape 1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" name="Google Shape;144;g3abaf05ebb9_1_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5" name="Google Shape;145;g3abaf05ebb9_1_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2" name="Shape 1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" name="Google Shape;153;g20db2e37072d3032_3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4" name="Google Shape;154;g20db2e37072d3032_3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0" name="Shape 1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1" name="Google Shape;161;g3acd4d8192f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2" name="Google Shape;162;g3acd4d8192f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7" name="Shape 1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8" name="Google Shape;168;g3abaf05ebb9_1_2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9" name="Google Shape;169;g3abaf05ebb9_1_2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9" name="Shape 1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0" name="Google Shape;180;g3a2b868cbc7_0_1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1" name="Google Shape;181;g3a2b868cbc7_0_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6" name="Shape 1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7" name="Google Shape;187;g3a95e411b9a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8" name="Google Shape;188;g3a95e411b9a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2" name="Shape 1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3" name="Google Shape;193;g20db2e37072d3032_4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94" name="Google Shape;194;g20db2e37072d3032_4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5" name="Shape 2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6" name="Google Shape;206;g20db2e37072d3032_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07" name="Google Shape;207;g20db2e37072d3032_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4" name="Shape 2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" name="Google Shape;215;g3a95e411b9a_0_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16" name="Google Shape;216;g3a95e411b9a_0_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0" name="Shape 2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1" name="Google Shape;221;g3a2b868cbc7_0_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22" name="Google Shape;222;g3a2b868cbc7_0_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7" name="Shape 2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8" name="Google Shape;228;g3aabbb6d77c_0_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29" name="Google Shape;229;g3aabbb6d77c_0_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3" name="Shape 2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4" name="Google Shape;234;g3a947b572f0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35" name="Google Shape;235;g3a947b572f0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3" name="Shape 2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4" name="Google Shape;244;g3a947b572f0_0_1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45" name="Google Shape;245;g3a947b572f0_0_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0" name="Shape 2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1" name="Google Shape;251;g3a947b572f0_0_3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52" name="Google Shape;252;g3a947b572f0_0_3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6" name="Shape 2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7" name="Google Shape;257;g3a947b572f0_0_5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58" name="Google Shape;258;g3a947b572f0_0_5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2" name="Shape 2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3" name="Google Shape;263;g3a947b572f0_0_4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64" name="Google Shape;264;g3a947b572f0_0_4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8" name="Shape 2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9" name="Google Shape;269;g3a947b572f0_0_4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0" name="Google Shape;270;g3a947b572f0_0_4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/>
          <p:nvPr/>
        </p:nvSpPr>
        <p:spPr>
          <a:xfrm rot="5400000">
            <a:off x="7500300" y="505"/>
            <a:ext cx="1643700" cy="1643700"/>
          </a:xfrm>
          <a:prstGeom prst="diagStripe">
            <a:avLst>
              <a:gd fmla="val 0" name="adj"/>
            </a:avLst>
          </a:prstGeom>
          <a:solidFill>
            <a:schemeClr val="lt1">
              <a:alpha val="3030"/>
            </a:scheme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11" name="Google Shape;11;p2"/>
          <p:cNvGrpSpPr/>
          <p:nvPr/>
        </p:nvGrpSpPr>
        <p:grpSpPr>
          <a:xfrm>
            <a:off x="0" y="490"/>
            <a:ext cx="5153705" cy="5134399"/>
            <a:chOff x="0" y="75"/>
            <a:chExt cx="5153705" cy="5152950"/>
          </a:xfrm>
        </p:grpSpPr>
        <p:sp>
          <p:nvSpPr>
            <p:cNvPr id="12" name="Google Shape;12;p2"/>
            <p:cNvSpPr/>
            <p:nvPr/>
          </p:nvSpPr>
          <p:spPr>
            <a:xfrm rot="-5400000">
              <a:off x="455" y="-225"/>
              <a:ext cx="5152800" cy="51537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303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" name="Google Shape;13;p2"/>
            <p:cNvSpPr/>
            <p:nvPr/>
          </p:nvSpPr>
          <p:spPr>
            <a:xfrm rot="-5400000">
              <a:off x="150" y="1145825"/>
              <a:ext cx="3996600" cy="3996900"/>
            </a:xfrm>
            <a:prstGeom prst="diagStripe">
              <a:avLst>
                <a:gd fmla="val 58774" name="adj"/>
              </a:avLst>
            </a:prstGeom>
            <a:solidFill>
              <a:schemeClr val="lt1">
                <a:alpha val="303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" name="Google Shape;14;p2"/>
            <p:cNvSpPr/>
            <p:nvPr/>
          </p:nvSpPr>
          <p:spPr>
            <a:xfrm rot="-5400000">
              <a:off x="1646" y="-75"/>
              <a:ext cx="2299800" cy="2300100"/>
            </a:xfrm>
            <a:prstGeom prst="diagStripe">
              <a:avLst>
                <a:gd fmla="val 50000" name="adj"/>
              </a:avLst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" name="Google Shape;15;p2"/>
            <p:cNvSpPr/>
            <p:nvPr/>
          </p:nvSpPr>
          <p:spPr>
            <a:xfrm flipH="1">
              <a:off x="652821" y="590035"/>
              <a:ext cx="2300100" cy="2299800"/>
            </a:xfrm>
            <a:prstGeom prst="diagStripe">
              <a:avLst>
                <a:gd fmla="val 50000" name="adj"/>
              </a:avLst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6" name="Google Shape;16;p2"/>
          <p:cNvSpPr txBox="1"/>
          <p:nvPr>
            <p:ph type="ctrTitle"/>
          </p:nvPr>
        </p:nvSpPr>
        <p:spPr>
          <a:xfrm>
            <a:off x="3537150" y="1578400"/>
            <a:ext cx="5017500" cy="1578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1pPr>
            <a:lvl2pPr lvl="1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2pPr>
            <a:lvl3pPr lvl="2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3pPr>
            <a:lvl4pPr lvl="3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4pPr>
            <a:lvl5pPr lvl="4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5pPr>
            <a:lvl6pPr lvl="5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6pPr>
            <a:lvl7pPr lvl="6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7pPr>
            <a:lvl8pPr lvl="7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8pPr>
            <a:lvl9pPr lvl="8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9pPr>
          </a:lstStyle>
          <a:p/>
        </p:txBody>
      </p:sp>
      <p:sp>
        <p:nvSpPr>
          <p:cNvPr id="17" name="Google Shape;17;p2"/>
          <p:cNvSpPr txBox="1"/>
          <p:nvPr>
            <p:ph idx="1" type="subTitle"/>
          </p:nvPr>
        </p:nvSpPr>
        <p:spPr>
          <a:xfrm>
            <a:off x="5083950" y="3924925"/>
            <a:ext cx="3470700" cy="506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9pPr>
          </a:lstStyle>
          <a:p/>
        </p:txBody>
      </p:sp>
      <p:sp>
        <p:nvSpPr>
          <p:cNvPr id="18" name="Google Shape;18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9" name="Shape 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0" name="Google Shape;20;p3"/>
          <p:cNvGrpSpPr/>
          <p:nvPr/>
        </p:nvGrpSpPr>
        <p:grpSpPr>
          <a:xfrm>
            <a:off x="4406400" y="0"/>
            <a:ext cx="4737600" cy="5143065"/>
            <a:chOff x="4406400" y="0"/>
            <a:chExt cx="4737600" cy="5143065"/>
          </a:xfrm>
        </p:grpSpPr>
        <p:sp>
          <p:nvSpPr>
            <p:cNvPr id="21" name="Google Shape;21;p3"/>
            <p:cNvSpPr/>
            <p:nvPr/>
          </p:nvSpPr>
          <p:spPr>
            <a:xfrm rot="5400000">
              <a:off x="4408200" y="-1800"/>
              <a:ext cx="4734000" cy="4737600"/>
            </a:xfrm>
            <a:prstGeom prst="diagStripe">
              <a:avLst>
                <a:gd fmla="val 49469" name="adj"/>
              </a:avLst>
            </a:prstGeom>
            <a:solidFill>
              <a:schemeClr val="lt1">
                <a:alpha val="346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" name="Google Shape;22;p3"/>
            <p:cNvSpPr/>
            <p:nvPr/>
          </p:nvSpPr>
          <p:spPr>
            <a:xfrm rot="5400000">
              <a:off x="4841125" y="5700"/>
              <a:ext cx="4298100" cy="4286700"/>
            </a:xfrm>
            <a:prstGeom prst="diagStripe">
              <a:avLst>
                <a:gd fmla="val 0" name="adj"/>
              </a:avLst>
            </a:prstGeom>
            <a:solidFill>
              <a:schemeClr val="lt1">
                <a:alpha val="346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" name="Google Shape;23;p3"/>
            <p:cNvSpPr/>
            <p:nvPr/>
          </p:nvSpPr>
          <p:spPr>
            <a:xfrm rot="-5400000">
              <a:off x="5618399" y="1236468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" name="Google Shape;24;p3"/>
            <p:cNvSpPr/>
            <p:nvPr/>
          </p:nvSpPr>
          <p:spPr>
            <a:xfrm flipH="1">
              <a:off x="5849857" y="1443956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" name="Google Shape;25;p3"/>
            <p:cNvSpPr/>
            <p:nvPr/>
          </p:nvSpPr>
          <p:spPr>
            <a:xfrm rot="-5400000">
              <a:off x="5987081" y="2469465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6" name="Google Shape;26;p3"/>
            <p:cNvSpPr/>
            <p:nvPr/>
          </p:nvSpPr>
          <p:spPr>
            <a:xfrm flipH="1">
              <a:off x="6222115" y="2676953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" name="Google Shape;27;p3"/>
            <p:cNvSpPr/>
            <p:nvPr/>
          </p:nvSpPr>
          <p:spPr>
            <a:xfrm rot="-5400000">
              <a:off x="6675341" y="1862018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8" name="Google Shape;28;p3"/>
            <p:cNvSpPr/>
            <p:nvPr/>
          </p:nvSpPr>
          <p:spPr>
            <a:xfrm flipH="1">
              <a:off x="6908099" y="2069505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9" name="Google Shape;29;p3"/>
            <p:cNvSpPr/>
            <p:nvPr/>
          </p:nvSpPr>
          <p:spPr>
            <a:xfrm rot="-5400000">
              <a:off x="6861141" y="2477810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0" name="Google Shape;30;p3"/>
            <p:cNvSpPr/>
            <p:nvPr/>
          </p:nvSpPr>
          <p:spPr>
            <a:xfrm flipH="1">
              <a:off x="7965266" y="2692963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1" name="Google Shape;31;p3"/>
            <p:cNvSpPr/>
            <p:nvPr/>
          </p:nvSpPr>
          <p:spPr>
            <a:xfrm flipH="1">
              <a:off x="8145082" y="3308755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2" name="Google Shape;32;p3"/>
            <p:cNvSpPr/>
            <p:nvPr/>
          </p:nvSpPr>
          <p:spPr>
            <a:xfrm rot="-5400000">
              <a:off x="7047599" y="3095015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3" name="Google Shape;33;p3"/>
            <p:cNvSpPr/>
            <p:nvPr/>
          </p:nvSpPr>
          <p:spPr>
            <a:xfrm flipH="1">
              <a:off x="7276649" y="3302502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4" name="Google Shape;34;p3"/>
            <p:cNvSpPr/>
            <p:nvPr/>
          </p:nvSpPr>
          <p:spPr>
            <a:xfrm rot="-5400000">
              <a:off x="7227414" y="3710807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5" name="Google Shape;35;p3"/>
            <p:cNvSpPr/>
            <p:nvPr/>
          </p:nvSpPr>
          <p:spPr>
            <a:xfrm flipH="1">
              <a:off x="7462448" y="3918294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6" name="Google Shape;36;p3"/>
            <p:cNvSpPr/>
            <p:nvPr/>
          </p:nvSpPr>
          <p:spPr>
            <a:xfrm rot="-5400000">
              <a:off x="8102491" y="3718473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7" name="Google Shape;37;p3"/>
            <p:cNvSpPr/>
            <p:nvPr/>
          </p:nvSpPr>
          <p:spPr>
            <a:xfrm flipH="1">
              <a:off x="8334533" y="3925960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8" name="Google Shape;38;p3"/>
            <p:cNvSpPr/>
            <p:nvPr/>
          </p:nvSpPr>
          <p:spPr>
            <a:xfrm rot="-5400000">
              <a:off x="8288290" y="4334265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39" name="Google Shape;39;p3"/>
          <p:cNvSpPr txBox="1"/>
          <p:nvPr>
            <p:ph type="title"/>
          </p:nvPr>
        </p:nvSpPr>
        <p:spPr>
          <a:xfrm>
            <a:off x="823850" y="2053000"/>
            <a:ext cx="4587000" cy="1148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40" name="Google Shape;40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4"/>
          <p:cNvSpPr txBox="1"/>
          <p:nvPr>
            <p:ph type="title"/>
          </p:nvPr>
        </p:nvSpPr>
        <p:spPr>
          <a:xfrm>
            <a:off x="1297500" y="393750"/>
            <a:ext cx="7038900" cy="914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43" name="Google Shape;43;p4"/>
          <p:cNvSpPr txBox="1"/>
          <p:nvPr>
            <p:ph idx="1" type="body"/>
          </p:nvPr>
        </p:nvSpPr>
        <p:spPr>
          <a:xfrm>
            <a:off x="1297500" y="1567550"/>
            <a:ext cx="7038900" cy="291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grpSp>
        <p:nvGrpSpPr>
          <p:cNvPr id="44" name="Google Shape;44;p4"/>
          <p:cNvGrpSpPr/>
          <p:nvPr/>
        </p:nvGrpSpPr>
        <p:grpSpPr>
          <a:xfrm>
            <a:off x="0" y="381001"/>
            <a:ext cx="1037850" cy="1016287"/>
            <a:chOff x="0" y="381001"/>
            <a:chExt cx="1037850" cy="1016287"/>
          </a:xfrm>
        </p:grpSpPr>
        <p:sp>
          <p:nvSpPr>
            <p:cNvPr id="45" name="Google Shape;45;p4"/>
            <p:cNvSpPr/>
            <p:nvPr/>
          </p:nvSpPr>
          <p:spPr>
            <a:xfrm rot="-5400000">
              <a:off x="0" y="381001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6" name="Google Shape;46;p4"/>
            <p:cNvSpPr/>
            <p:nvPr/>
          </p:nvSpPr>
          <p:spPr>
            <a:xfrm flipH="1">
              <a:off x="229050" y="588489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47" name="Google Shape;47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9" name="Google Shape;49;p5"/>
          <p:cNvGrpSpPr/>
          <p:nvPr/>
        </p:nvGrpSpPr>
        <p:grpSpPr>
          <a:xfrm>
            <a:off x="0" y="381001"/>
            <a:ext cx="1037850" cy="1016287"/>
            <a:chOff x="0" y="381001"/>
            <a:chExt cx="1037850" cy="1016287"/>
          </a:xfrm>
        </p:grpSpPr>
        <p:sp>
          <p:nvSpPr>
            <p:cNvPr id="50" name="Google Shape;50;p5"/>
            <p:cNvSpPr/>
            <p:nvPr/>
          </p:nvSpPr>
          <p:spPr>
            <a:xfrm rot="-5400000">
              <a:off x="0" y="381001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1" name="Google Shape;51;p5"/>
            <p:cNvSpPr/>
            <p:nvPr/>
          </p:nvSpPr>
          <p:spPr>
            <a:xfrm flipH="1">
              <a:off x="229050" y="588489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52" name="Google Shape;52;p5"/>
          <p:cNvSpPr txBox="1"/>
          <p:nvPr>
            <p:ph type="title"/>
          </p:nvPr>
        </p:nvSpPr>
        <p:spPr>
          <a:xfrm>
            <a:off x="1297500" y="393750"/>
            <a:ext cx="7038900" cy="914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53" name="Google Shape;53;p5"/>
          <p:cNvSpPr txBox="1"/>
          <p:nvPr>
            <p:ph idx="1" type="body"/>
          </p:nvPr>
        </p:nvSpPr>
        <p:spPr>
          <a:xfrm>
            <a:off x="1297500" y="1567550"/>
            <a:ext cx="3403200" cy="291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54" name="Google Shape;54;p5"/>
          <p:cNvSpPr txBox="1"/>
          <p:nvPr>
            <p:ph idx="2" type="body"/>
          </p:nvPr>
        </p:nvSpPr>
        <p:spPr>
          <a:xfrm>
            <a:off x="4933221" y="1567550"/>
            <a:ext cx="3403200" cy="291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55" name="Google Shape;55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56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7" name="Google Shape;57;p6"/>
          <p:cNvGrpSpPr/>
          <p:nvPr/>
        </p:nvGrpSpPr>
        <p:grpSpPr>
          <a:xfrm>
            <a:off x="0" y="381001"/>
            <a:ext cx="1037850" cy="1016287"/>
            <a:chOff x="0" y="381001"/>
            <a:chExt cx="1037850" cy="1016287"/>
          </a:xfrm>
        </p:grpSpPr>
        <p:sp>
          <p:nvSpPr>
            <p:cNvPr id="58" name="Google Shape;58;p6"/>
            <p:cNvSpPr/>
            <p:nvPr/>
          </p:nvSpPr>
          <p:spPr>
            <a:xfrm rot="-5400000">
              <a:off x="0" y="381001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9" name="Google Shape;59;p6"/>
            <p:cNvSpPr/>
            <p:nvPr/>
          </p:nvSpPr>
          <p:spPr>
            <a:xfrm flipH="1">
              <a:off x="229050" y="588489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60" name="Google Shape;60;p6"/>
          <p:cNvSpPr txBox="1"/>
          <p:nvPr>
            <p:ph type="title"/>
          </p:nvPr>
        </p:nvSpPr>
        <p:spPr>
          <a:xfrm>
            <a:off x="1297500" y="393750"/>
            <a:ext cx="7038900" cy="914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61" name="Google Shape;61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62" name="Shape 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3" name="Google Shape;63;p7"/>
          <p:cNvGrpSpPr/>
          <p:nvPr/>
        </p:nvGrpSpPr>
        <p:grpSpPr>
          <a:xfrm>
            <a:off x="0" y="381001"/>
            <a:ext cx="1037850" cy="1016287"/>
            <a:chOff x="0" y="381001"/>
            <a:chExt cx="1037850" cy="1016287"/>
          </a:xfrm>
        </p:grpSpPr>
        <p:sp>
          <p:nvSpPr>
            <p:cNvPr id="64" name="Google Shape;64;p7"/>
            <p:cNvSpPr/>
            <p:nvPr/>
          </p:nvSpPr>
          <p:spPr>
            <a:xfrm rot="-5400000">
              <a:off x="0" y="381001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5" name="Google Shape;65;p7"/>
            <p:cNvSpPr/>
            <p:nvPr/>
          </p:nvSpPr>
          <p:spPr>
            <a:xfrm flipH="1">
              <a:off x="229050" y="588489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66" name="Google Shape;66;p7"/>
          <p:cNvSpPr txBox="1"/>
          <p:nvPr>
            <p:ph type="title"/>
          </p:nvPr>
        </p:nvSpPr>
        <p:spPr>
          <a:xfrm>
            <a:off x="1297500" y="393750"/>
            <a:ext cx="3798900" cy="1493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67" name="Google Shape;67;p7"/>
          <p:cNvSpPr txBox="1"/>
          <p:nvPr>
            <p:ph idx="1" type="body"/>
          </p:nvPr>
        </p:nvSpPr>
        <p:spPr>
          <a:xfrm>
            <a:off x="1297500" y="1972550"/>
            <a:ext cx="3798900" cy="2415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68" name="Google Shape;68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69" name="Shape 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0" name="Google Shape;70;p8"/>
          <p:cNvGrpSpPr/>
          <p:nvPr/>
        </p:nvGrpSpPr>
        <p:grpSpPr>
          <a:xfrm>
            <a:off x="4406400" y="0"/>
            <a:ext cx="4737600" cy="5143500"/>
            <a:chOff x="4406400" y="0"/>
            <a:chExt cx="4737600" cy="5143500"/>
          </a:xfrm>
        </p:grpSpPr>
        <p:sp>
          <p:nvSpPr>
            <p:cNvPr id="71" name="Google Shape;71;p8"/>
            <p:cNvSpPr/>
            <p:nvPr/>
          </p:nvSpPr>
          <p:spPr>
            <a:xfrm rot="5400000">
              <a:off x="4407900" y="-1500"/>
              <a:ext cx="4734600" cy="4737600"/>
            </a:xfrm>
            <a:prstGeom prst="diagStripe">
              <a:avLst>
                <a:gd fmla="val 49469" name="adj"/>
              </a:avLst>
            </a:prstGeom>
            <a:solidFill>
              <a:schemeClr val="lt1">
                <a:alpha val="346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2" name="Google Shape;72;p8"/>
            <p:cNvSpPr/>
            <p:nvPr/>
          </p:nvSpPr>
          <p:spPr>
            <a:xfrm rot="5400000">
              <a:off x="4840825" y="6000"/>
              <a:ext cx="4298700" cy="4286700"/>
            </a:xfrm>
            <a:prstGeom prst="diagStripe">
              <a:avLst>
                <a:gd fmla="val 0" name="adj"/>
              </a:avLst>
            </a:prstGeom>
            <a:solidFill>
              <a:schemeClr val="lt1">
                <a:alpha val="346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3" name="Google Shape;73;p8"/>
            <p:cNvSpPr/>
            <p:nvPr/>
          </p:nvSpPr>
          <p:spPr>
            <a:xfrm rot="-5400000">
              <a:off x="5618399" y="1236641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4" name="Google Shape;74;p8"/>
            <p:cNvSpPr/>
            <p:nvPr/>
          </p:nvSpPr>
          <p:spPr>
            <a:xfrm flipH="1">
              <a:off x="5849857" y="1444078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5" name="Google Shape;75;p8"/>
            <p:cNvSpPr/>
            <p:nvPr/>
          </p:nvSpPr>
          <p:spPr>
            <a:xfrm rot="-5400000">
              <a:off x="5987081" y="2469743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6" name="Google Shape;76;p8"/>
            <p:cNvSpPr/>
            <p:nvPr/>
          </p:nvSpPr>
          <p:spPr>
            <a:xfrm flipH="1">
              <a:off x="6222115" y="2677179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7" name="Google Shape;77;p8"/>
            <p:cNvSpPr/>
            <p:nvPr/>
          </p:nvSpPr>
          <p:spPr>
            <a:xfrm rot="-5400000">
              <a:off x="6675341" y="1862244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8" name="Google Shape;78;p8"/>
            <p:cNvSpPr/>
            <p:nvPr/>
          </p:nvSpPr>
          <p:spPr>
            <a:xfrm flipH="1">
              <a:off x="6908099" y="2069680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9" name="Google Shape;79;p8"/>
            <p:cNvSpPr/>
            <p:nvPr/>
          </p:nvSpPr>
          <p:spPr>
            <a:xfrm rot="-5400000">
              <a:off x="6861141" y="2478088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0" name="Google Shape;80;p8"/>
            <p:cNvSpPr/>
            <p:nvPr/>
          </p:nvSpPr>
          <p:spPr>
            <a:xfrm flipH="1">
              <a:off x="7965266" y="2693191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1" name="Google Shape;81;p8"/>
            <p:cNvSpPr/>
            <p:nvPr/>
          </p:nvSpPr>
          <p:spPr>
            <a:xfrm flipH="1">
              <a:off x="8145082" y="3309036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2" name="Google Shape;82;p8"/>
            <p:cNvSpPr/>
            <p:nvPr/>
          </p:nvSpPr>
          <p:spPr>
            <a:xfrm rot="-5400000">
              <a:off x="7047599" y="3095345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3" name="Google Shape;83;p8"/>
            <p:cNvSpPr/>
            <p:nvPr/>
          </p:nvSpPr>
          <p:spPr>
            <a:xfrm flipH="1">
              <a:off x="7276649" y="3302781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4" name="Google Shape;84;p8"/>
            <p:cNvSpPr/>
            <p:nvPr/>
          </p:nvSpPr>
          <p:spPr>
            <a:xfrm rot="-5400000">
              <a:off x="7227414" y="3711189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5" name="Google Shape;85;p8"/>
            <p:cNvSpPr/>
            <p:nvPr/>
          </p:nvSpPr>
          <p:spPr>
            <a:xfrm flipH="1">
              <a:off x="7462448" y="3918625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6" name="Google Shape;86;p8"/>
            <p:cNvSpPr/>
            <p:nvPr/>
          </p:nvSpPr>
          <p:spPr>
            <a:xfrm rot="-5400000">
              <a:off x="8102491" y="3718856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7" name="Google Shape;87;p8"/>
            <p:cNvSpPr/>
            <p:nvPr/>
          </p:nvSpPr>
          <p:spPr>
            <a:xfrm flipH="1">
              <a:off x="8334533" y="3926292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8" name="Google Shape;88;p8"/>
            <p:cNvSpPr/>
            <p:nvPr/>
          </p:nvSpPr>
          <p:spPr>
            <a:xfrm rot="-5400000">
              <a:off x="8288290" y="4334700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89" name="Google Shape;89;p8"/>
          <p:cNvSpPr txBox="1"/>
          <p:nvPr>
            <p:ph type="title"/>
          </p:nvPr>
        </p:nvSpPr>
        <p:spPr>
          <a:xfrm>
            <a:off x="823850" y="866775"/>
            <a:ext cx="4587000" cy="3521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90" name="Google Shape;90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9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2" name="Google Shape;92;p9"/>
          <p:cNvGrpSpPr/>
          <p:nvPr/>
        </p:nvGrpSpPr>
        <p:grpSpPr>
          <a:xfrm>
            <a:off x="0" y="381001"/>
            <a:ext cx="1037850" cy="1016287"/>
            <a:chOff x="0" y="381001"/>
            <a:chExt cx="1037850" cy="1016287"/>
          </a:xfrm>
        </p:grpSpPr>
        <p:sp>
          <p:nvSpPr>
            <p:cNvPr id="93" name="Google Shape;93;p9"/>
            <p:cNvSpPr/>
            <p:nvPr/>
          </p:nvSpPr>
          <p:spPr>
            <a:xfrm rot="-5400000">
              <a:off x="0" y="381001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4" name="Google Shape;94;p9"/>
            <p:cNvSpPr/>
            <p:nvPr/>
          </p:nvSpPr>
          <p:spPr>
            <a:xfrm flipH="1">
              <a:off x="229050" y="588489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95" name="Google Shape;95;p9"/>
          <p:cNvSpPr txBox="1"/>
          <p:nvPr>
            <p:ph type="title"/>
          </p:nvPr>
        </p:nvSpPr>
        <p:spPr>
          <a:xfrm>
            <a:off x="1297500" y="1658325"/>
            <a:ext cx="3036300" cy="1751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96" name="Google Shape;96;p9"/>
          <p:cNvSpPr txBox="1"/>
          <p:nvPr>
            <p:ph idx="1" type="subTitle"/>
          </p:nvPr>
        </p:nvSpPr>
        <p:spPr>
          <a:xfrm>
            <a:off x="1297500" y="3538000"/>
            <a:ext cx="3036300" cy="506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9pPr>
          </a:lstStyle>
          <a:p/>
        </p:txBody>
      </p:sp>
      <p:sp>
        <p:nvSpPr>
          <p:cNvPr id="97" name="Google Shape;97;p9"/>
          <p:cNvSpPr txBox="1"/>
          <p:nvPr>
            <p:ph idx="2" type="body"/>
          </p:nvPr>
        </p:nvSpPr>
        <p:spPr>
          <a:xfrm>
            <a:off x="4648200" y="1696600"/>
            <a:ext cx="3676800" cy="2347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98" name="Google Shape;98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99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0" name="Google Shape;100;p10"/>
          <p:cNvGrpSpPr/>
          <p:nvPr/>
        </p:nvGrpSpPr>
        <p:grpSpPr>
          <a:xfrm>
            <a:off x="0" y="4128572"/>
            <a:ext cx="698925" cy="684657"/>
            <a:chOff x="0" y="3785672"/>
            <a:chExt cx="698925" cy="684657"/>
          </a:xfrm>
        </p:grpSpPr>
        <p:sp>
          <p:nvSpPr>
            <p:cNvPr id="101" name="Google Shape;101;p10"/>
            <p:cNvSpPr/>
            <p:nvPr/>
          </p:nvSpPr>
          <p:spPr>
            <a:xfrm rot="-5400000">
              <a:off x="0" y="3785672"/>
              <a:ext cx="544800" cy="544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962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2" name="Google Shape;102;p10"/>
            <p:cNvSpPr/>
            <p:nvPr/>
          </p:nvSpPr>
          <p:spPr>
            <a:xfrm flipH="1">
              <a:off x="154125" y="3925529"/>
              <a:ext cx="544800" cy="544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962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03" name="Google Shape;103;p10"/>
          <p:cNvSpPr txBox="1"/>
          <p:nvPr>
            <p:ph idx="1" type="body"/>
          </p:nvPr>
        </p:nvSpPr>
        <p:spPr>
          <a:xfrm>
            <a:off x="812725" y="4305375"/>
            <a:ext cx="6936000" cy="523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1pPr>
          </a:lstStyle>
          <a:p/>
        </p:txBody>
      </p:sp>
      <p:sp>
        <p:nvSpPr>
          <p:cNvPr id="104" name="Google Shape;104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105" name="Shape 1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6" name="Google Shape;106;p11"/>
          <p:cNvGrpSpPr/>
          <p:nvPr/>
        </p:nvGrpSpPr>
        <p:grpSpPr>
          <a:xfrm>
            <a:off x="4406400" y="0"/>
            <a:ext cx="4737600" cy="5143065"/>
            <a:chOff x="4406400" y="0"/>
            <a:chExt cx="4737600" cy="5143065"/>
          </a:xfrm>
        </p:grpSpPr>
        <p:sp>
          <p:nvSpPr>
            <p:cNvPr id="107" name="Google Shape;107;p11"/>
            <p:cNvSpPr/>
            <p:nvPr/>
          </p:nvSpPr>
          <p:spPr>
            <a:xfrm rot="5400000">
              <a:off x="4408200" y="-1800"/>
              <a:ext cx="4734000" cy="4737600"/>
            </a:xfrm>
            <a:prstGeom prst="diagStripe">
              <a:avLst>
                <a:gd fmla="val 49469" name="adj"/>
              </a:avLst>
            </a:prstGeom>
            <a:solidFill>
              <a:schemeClr val="lt1">
                <a:alpha val="346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8" name="Google Shape;108;p11"/>
            <p:cNvSpPr/>
            <p:nvPr/>
          </p:nvSpPr>
          <p:spPr>
            <a:xfrm rot="5400000">
              <a:off x="4841125" y="5700"/>
              <a:ext cx="4298100" cy="4286700"/>
            </a:xfrm>
            <a:prstGeom prst="diagStripe">
              <a:avLst>
                <a:gd fmla="val 0" name="adj"/>
              </a:avLst>
            </a:prstGeom>
            <a:solidFill>
              <a:schemeClr val="lt1">
                <a:alpha val="346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9" name="Google Shape;109;p11"/>
            <p:cNvSpPr/>
            <p:nvPr/>
          </p:nvSpPr>
          <p:spPr>
            <a:xfrm rot="-5400000">
              <a:off x="5618399" y="1236468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0" name="Google Shape;110;p11"/>
            <p:cNvSpPr/>
            <p:nvPr/>
          </p:nvSpPr>
          <p:spPr>
            <a:xfrm flipH="1">
              <a:off x="5849857" y="1443956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1" name="Google Shape;111;p11"/>
            <p:cNvSpPr/>
            <p:nvPr/>
          </p:nvSpPr>
          <p:spPr>
            <a:xfrm rot="-5400000">
              <a:off x="5987081" y="2469465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2" name="Google Shape;112;p11"/>
            <p:cNvSpPr/>
            <p:nvPr/>
          </p:nvSpPr>
          <p:spPr>
            <a:xfrm flipH="1">
              <a:off x="6222115" y="2676953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3" name="Google Shape;113;p11"/>
            <p:cNvSpPr/>
            <p:nvPr/>
          </p:nvSpPr>
          <p:spPr>
            <a:xfrm rot="-5400000">
              <a:off x="6675341" y="1862018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4" name="Google Shape;114;p11"/>
            <p:cNvSpPr/>
            <p:nvPr/>
          </p:nvSpPr>
          <p:spPr>
            <a:xfrm flipH="1">
              <a:off x="6908099" y="2069505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5" name="Google Shape;115;p11"/>
            <p:cNvSpPr/>
            <p:nvPr/>
          </p:nvSpPr>
          <p:spPr>
            <a:xfrm rot="-5400000">
              <a:off x="6861141" y="2477810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6" name="Google Shape;116;p11"/>
            <p:cNvSpPr/>
            <p:nvPr/>
          </p:nvSpPr>
          <p:spPr>
            <a:xfrm flipH="1">
              <a:off x="7965266" y="2692963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7" name="Google Shape;117;p11"/>
            <p:cNvSpPr/>
            <p:nvPr/>
          </p:nvSpPr>
          <p:spPr>
            <a:xfrm flipH="1">
              <a:off x="8145082" y="3308755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8" name="Google Shape;118;p11"/>
            <p:cNvSpPr/>
            <p:nvPr/>
          </p:nvSpPr>
          <p:spPr>
            <a:xfrm rot="-5400000">
              <a:off x="7047599" y="3095015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9" name="Google Shape;119;p11"/>
            <p:cNvSpPr/>
            <p:nvPr/>
          </p:nvSpPr>
          <p:spPr>
            <a:xfrm flipH="1">
              <a:off x="7276649" y="3302502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0" name="Google Shape;120;p11"/>
            <p:cNvSpPr/>
            <p:nvPr/>
          </p:nvSpPr>
          <p:spPr>
            <a:xfrm rot="-5400000">
              <a:off x="7227414" y="3710807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1" name="Google Shape;121;p11"/>
            <p:cNvSpPr/>
            <p:nvPr/>
          </p:nvSpPr>
          <p:spPr>
            <a:xfrm flipH="1">
              <a:off x="7462448" y="3918294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2" name="Google Shape;122;p11"/>
            <p:cNvSpPr/>
            <p:nvPr/>
          </p:nvSpPr>
          <p:spPr>
            <a:xfrm rot="-5400000">
              <a:off x="8102491" y="3718473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3" name="Google Shape;123;p11"/>
            <p:cNvSpPr/>
            <p:nvPr/>
          </p:nvSpPr>
          <p:spPr>
            <a:xfrm flipH="1">
              <a:off x="8334533" y="3925960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4" name="Google Shape;124;p11"/>
            <p:cNvSpPr/>
            <p:nvPr/>
          </p:nvSpPr>
          <p:spPr>
            <a:xfrm rot="-5400000">
              <a:off x="8288290" y="4334265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25" name="Google Shape;125;p11"/>
          <p:cNvSpPr txBox="1"/>
          <p:nvPr>
            <p:ph hasCustomPrompt="1" type="title"/>
          </p:nvPr>
        </p:nvSpPr>
        <p:spPr>
          <a:xfrm>
            <a:off x="823850" y="1284675"/>
            <a:ext cx="47760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8000"/>
              <a:buNone/>
              <a:defRPr sz="8000"/>
            </a:lvl1pPr>
            <a:lvl2pPr lvl="1">
              <a:spcBef>
                <a:spcPts val="0"/>
              </a:spcBef>
              <a:spcAft>
                <a:spcPts val="0"/>
              </a:spcAft>
              <a:buSzPts val="8000"/>
              <a:buNone/>
              <a:defRPr sz="8000"/>
            </a:lvl2pPr>
            <a:lvl3pPr lvl="2">
              <a:spcBef>
                <a:spcPts val="0"/>
              </a:spcBef>
              <a:spcAft>
                <a:spcPts val="0"/>
              </a:spcAft>
              <a:buSzPts val="8000"/>
              <a:buNone/>
              <a:defRPr sz="8000"/>
            </a:lvl3pPr>
            <a:lvl4pPr lvl="3">
              <a:spcBef>
                <a:spcPts val="0"/>
              </a:spcBef>
              <a:spcAft>
                <a:spcPts val="0"/>
              </a:spcAft>
              <a:buSzPts val="8000"/>
              <a:buNone/>
              <a:defRPr sz="8000"/>
            </a:lvl4pPr>
            <a:lvl5pPr lvl="4">
              <a:spcBef>
                <a:spcPts val="0"/>
              </a:spcBef>
              <a:spcAft>
                <a:spcPts val="0"/>
              </a:spcAft>
              <a:buSzPts val="8000"/>
              <a:buNone/>
              <a:defRPr sz="8000"/>
            </a:lvl5pPr>
            <a:lvl6pPr lvl="5">
              <a:spcBef>
                <a:spcPts val="0"/>
              </a:spcBef>
              <a:spcAft>
                <a:spcPts val="0"/>
              </a:spcAft>
              <a:buSzPts val="8000"/>
              <a:buNone/>
              <a:defRPr sz="8000"/>
            </a:lvl6pPr>
            <a:lvl7pPr lvl="6">
              <a:spcBef>
                <a:spcPts val="0"/>
              </a:spcBef>
              <a:spcAft>
                <a:spcPts val="0"/>
              </a:spcAft>
              <a:buSzPts val="8000"/>
              <a:buNone/>
              <a:defRPr sz="8000"/>
            </a:lvl7pPr>
            <a:lvl8pPr lvl="7">
              <a:spcBef>
                <a:spcPts val="0"/>
              </a:spcBef>
              <a:spcAft>
                <a:spcPts val="0"/>
              </a:spcAft>
              <a:buSzPts val="8000"/>
              <a:buNone/>
              <a:defRPr sz="8000"/>
            </a:lvl8pPr>
            <a:lvl9pPr lvl="8">
              <a:spcBef>
                <a:spcPts val="0"/>
              </a:spcBef>
              <a:spcAft>
                <a:spcPts val="0"/>
              </a:spcAft>
              <a:buSzPts val="8000"/>
              <a:buNone/>
              <a:defRPr sz="8000"/>
            </a:lvl9pPr>
          </a:lstStyle>
          <a:p>
            <a:r>
              <a:t>xx%</a:t>
            </a:r>
          </a:p>
        </p:txBody>
      </p:sp>
      <p:sp>
        <p:nvSpPr>
          <p:cNvPr id="126" name="Google Shape;126;p11"/>
          <p:cNvSpPr txBox="1"/>
          <p:nvPr>
            <p:ph idx="1" type="body"/>
          </p:nvPr>
        </p:nvSpPr>
        <p:spPr>
          <a:xfrm>
            <a:off x="823850" y="2643124"/>
            <a:ext cx="4776000" cy="1218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127" name="Google Shape;12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128" name="Shape 1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" name="Google Shape;12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focus">
    <p:bg>
      <p:bgPr>
        <a:solidFill>
          <a:schemeClr val="dk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ontserrat"/>
              <a:buNone/>
              <a:defRPr sz="28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ontserrat"/>
              <a:buNone/>
              <a:defRPr sz="28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ontserrat"/>
              <a:buNone/>
              <a:defRPr sz="28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ontserrat"/>
              <a:buNone/>
              <a:defRPr sz="28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ontserrat"/>
              <a:buNone/>
              <a:defRPr sz="28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ontserrat"/>
              <a:buNone/>
              <a:defRPr sz="28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ontserrat"/>
              <a:buNone/>
              <a:defRPr sz="28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ontserrat"/>
              <a:buNone/>
              <a:defRPr sz="28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ontserrat"/>
              <a:buNone/>
              <a:defRPr sz="28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300"/>
              <a:buFont typeface="Lato"/>
              <a:buChar char="●"/>
              <a:defRPr sz="13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1pPr>
            <a:lvl2pPr indent="-29845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Lato"/>
              <a:buChar char="○"/>
              <a:defRPr sz="11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2pPr>
            <a:lvl3pPr indent="-29845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Lato"/>
              <a:buChar char="■"/>
              <a:defRPr sz="11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3pPr>
            <a:lvl4pPr indent="-29845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Lato"/>
              <a:buChar char="●"/>
              <a:defRPr sz="11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4pPr>
            <a:lvl5pPr indent="-29845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Lato"/>
              <a:buChar char="○"/>
              <a:defRPr sz="11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5pPr>
            <a:lvl6pPr indent="-29845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Lato"/>
              <a:buChar char="■"/>
              <a:defRPr sz="11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6pPr>
            <a:lvl7pPr indent="-29845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Lato"/>
              <a:buChar char="●"/>
              <a:defRPr sz="11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7pPr>
            <a:lvl8pPr indent="-29845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Lato"/>
              <a:buChar char="○"/>
              <a:defRPr sz="11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8pPr>
            <a:lvl9pPr indent="-29845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Lato"/>
              <a:buChar char="■"/>
              <a:defRPr sz="11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1pPr>
            <a:lvl2pPr lvl="1" algn="r">
              <a:buNone/>
              <a:defRPr sz="10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2pPr>
            <a:lvl3pPr lvl="2" algn="r">
              <a:buNone/>
              <a:defRPr sz="10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3pPr>
            <a:lvl4pPr lvl="3" algn="r">
              <a:buNone/>
              <a:defRPr sz="10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4pPr>
            <a:lvl5pPr lvl="4" algn="r">
              <a:buNone/>
              <a:defRPr sz="10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5pPr>
            <a:lvl6pPr lvl="5" algn="r">
              <a:buNone/>
              <a:defRPr sz="10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6pPr>
            <a:lvl7pPr lvl="6" algn="r">
              <a:buNone/>
              <a:defRPr sz="10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7pPr>
            <a:lvl8pPr lvl="7" algn="r">
              <a:buNone/>
              <a:defRPr sz="10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8pPr>
            <a:lvl9pPr lvl="8" algn="r">
              <a:buNone/>
              <a:defRPr sz="10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hyperlink" Target="https://github.com/ctmayton/strassen_multiplication_benchmark" TargetMode="Externa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5.gif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3.png"/><Relationship Id="rId4" Type="http://schemas.openxmlformats.org/officeDocument/2006/relationships/image" Target="../media/image4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2.jp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3.xml"/><Relationship Id="rId3" Type="http://schemas.openxmlformats.org/officeDocument/2006/relationships/hyperlink" Target="http://drive.google.com/file/d/19mx--9dmCJ1us0oQMt8GeoKdOcvYUpVK/view" TargetMode="External"/><Relationship Id="rId4" Type="http://schemas.openxmlformats.org/officeDocument/2006/relationships/image" Target="../media/image1.png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6.png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8.xml"/><Relationship Id="rId3" Type="http://schemas.openxmlformats.org/officeDocument/2006/relationships/hyperlink" Target="https://www.learnpdc.org/PDCBeginners/5-applications/matrix-multiply.html" TargetMode="External"/><Relationship Id="rId4" Type="http://schemas.openxmlformats.org/officeDocument/2006/relationships/hyperlink" Target="https://www.desmos.com/calculator" TargetMode="External"/><Relationship Id="rId5" Type="http://schemas.openxmlformats.org/officeDocument/2006/relationships/hyperlink" Target="https://www.meta-chart.com" TargetMode="External"/><Relationship Id="rId6" Type="http://schemas.openxmlformats.org/officeDocument/2006/relationships/hyperlink" Target="https://www.jeremyjordan.me/intro-to-neural-networks/" TargetMode="External"/><Relationship Id="rId7" Type="http://schemas.openxmlformats.org/officeDocument/2006/relationships/hyperlink" Target="https://www.researchgate.net/figure/mage-of-Abraham-Lincoln-as-a-matrix-of-pixel-values_fig1_330902210" TargetMode="External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9.xml"/><Relationship Id="rId3" Type="http://schemas.openxmlformats.org/officeDocument/2006/relationships/image" Target="../media/image7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3" name="Shape 1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" name="Google Shape;134;p13"/>
          <p:cNvSpPr txBox="1"/>
          <p:nvPr>
            <p:ph type="ctrTitle"/>
          </p:nvPr>
        </p:nvSpPr>
        <p:spPr>
          <a:xfrm>
            <a:off x="3537150" y="1578400"/>
            <a:ext cx="5017500" cy="1578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Matrix Multiplication Algorithms</a:t>
            </a:r>
            <a:endParaRPr/>
          </a:p>
        </p:txBody>
      </p:sp>
      <p:sp>
        <p:nvSpPr>
          <p:cNvPr id="135" name="Google Shape;135;p13"/>
          <p:cNvSpPr txBox="1"/>
          <p:nvPr>
            <p:ph idx="1" type="subTitle"/>
          </p:nvPr>
        </p:nvSpPr>
        <p:spPr>
          <a:xfrm>
            <a:off x="4754200" y="3924925"/>
            <a:ext cx="4273500" cy="506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lnSpcReduction="2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By: </a:t>
            </a:r>
            <a:r>
              <a:rPr lang="en">
                <a:latin typeface="Times New Roman"/>
                <a:ea typeface="Times New Roman"/>
                <a:cs typeface="Times New Roman"/>
                <a:sym typeface="Times New Roman"/>
              </a:rPr>
              <a:t>Jonah Robbins, Chase Mayton, Noah Davis, Corbin Johnson</a:t>
            </a:r>
            <a:endParaRPr/>
          </a:p>
        </p:txBody>
      </p:sp>
      <p:sp>
        <p:nvSpPr>
          <p:cNvPr id="136" name="Google Shape;136;p13"/>
          <p:cNvSpPr txBox="1"/>
          <p:nvPr/>
        </p:nvSpPr>
        <p:spPr>
          <a:xfrm>
            <a:off x="2707050" y="363200"/>
            <a:ext cx="5429100" cy="598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rPr>
              <a:t>Link to github with the program:</a:t>
            </a:r>
            <a:endParaRPr sz="1300">
              <a:solidFill>
                <a:schemeClr val="lt1"/>
              </a:solidFill>
              <a:latin typeface="Lato"/>
              <a:ea typeface="Lato"/>
              <a:cs typeface="Lato"/>
              <a:sym typeface="La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 u="sng">
                <a:solidFill>
                  <a:schemeClr val="hlink"/>
                </a:solidFill>
                <a:latin typeface="Lato"/>
                <a:ea typeface="Lato"/>
                <a:cs typeface="Lato"/>
                <a:sym typeface="Lato"/>
                <a:hlinkClick r:id="rId3"/>
              </a:rPr>
              <a:t>https://github.com/ctmayton/strassen_multiplication_benchmark</a:t>
            </a:r>
            <a:endParaRPr sz="1300">
              <a:solidFill>
                <a:schemeClr val="lt1"/>
              </a:solidFill>
              <a:latin typeface="Lato"/>
              <a:ea typeface="Lato"/>
              <a:cs typeface="Lato"/>
              <a:sym typeface="Lato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0" name="Shape 1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1" name="Google Shape;141;p14"/>
          <p:cNvSpPr txBox="1"/>
          <p:nvPr>
            <p:ph type="title"/>
          </p:nvPr>
        </p:nvSpPr>
        <p:spPr>
          <a:xfrm>
            <a:off x="1297500" y="393750"/>
            <a:ext cx="7269900" cy="914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What is Matrix Multiplication</a:t>
            </a:r>
            <a:endParaRPr/>
          </a:p>
        </p:txBody>
      </p:sp>
      <p:pic>
        <p:nvPicPr>
          <p:cNvPr id="142" name="Google Shape;142;p14" title="MM-openMP.gif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816075" y="1460050"/>
            <a:ext cx="3511851" cy="351185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6" name="Shape 1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7" name="Google Shape;147;p15"/>
          <p:cNvSpPr txBox="1"/>
          <p:nvPr>
            <p:ph type="title"/>
          </p:nvPr>
        </p:nvSpPr>
        <p:spPr>
          <a:xfrm>
            <a:off x="1297500" y="393750"/>
            <a:ext cx="7038900" cy="914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Why it’s useful</a:t>
            </a:r>
            <a:endParaRPr/>
          </a:p>
        </p:txBody>
      </p:sp>
      <p:sp>
        <p:nvSpPr>
          <p:cNvPr id="148" name="Google Shape;148;p15"/>
          <p:cNvSpPr txBox="1"/>
          <p:nvPr>
            <p:ph idx="1" type="body"/>
          </p:nvPr>
        </p:nvSpPr>
        <p:spPr>
          <a:xfrm>
            <a:off x="1297500" y="919175"/>
            <a:ext cx="7038900" cy="291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45720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rPr lang="en"/>
              <a:t>One easy real world example you can use to find the use of Matrix Multiplication is by having to take </a:t>
            </a:r>
            <a:r>
              <a:rPr lang="en"/>
              <a:t>inventory</a:t>
            </a:r>
            <a:r>
              <a:rPr lang="en"/>
              <a:t> at a shipping company.</a:t>
            </a:r>
            <a:endParaRPr/>
          </a:p>
        </p:txBody>
      </p:sp>
      <p:graphicFrame>
        <p:nvGraphicFramePr>
          <p:cNvPr id="149" name="Google Shape;149;p15"/>
          <p:cNvGraphicFramePr/>
          <p:nvPr/>
        </p:nvGraphicFramePr>
        <p:xfrm>
          <a:off x="324950" y="199055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{A53319A4-BB05-4323-826D-80545E43B7DE}</a:tableStyleId>
              </a:tblPr>
              <a:tblGrid>
                <a:gridCol w="688075"/>
                <a:gridCol w="688075"/>
                <a:gridCol w="688075"/>
                <a:gridCol w="688075"/>
              </a:tblGrid>
              <a:tr h="13595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>
                        <a:latin typeface="Lato"/>
                        <a:ea typeface="Lato"/>
                        <a:cs typeface="Lato"/>
                        <a:sym typeface="Lato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000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Lato"/>
                          <a:ea typeface="Lato"/>
                          <a:cs typeface="Lato"/>
                          <a:sym typeface="Lato"/>
                        </a:rPr>
                        <a:t>Cedar</a:t>
                      </a:r>
                      <a:endParaRPr>
                        <a:latin typeface="Lato"/>
                        <a:ea typeface="Lato"/>
                        <a:cs typeface="Lato"/>
                        <a:sym typeface="Lato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155C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Lato"/>
                          <a:ea typeface="Lato"/>
                          <a:cs typeface="Lato"/>
                          <a:sym typeface="Lato"/>
                        </a:rPr>
                        <a:t>Birch</a:t>
                      </a:r>
                      <a:endParaRPr>
                        <a:latin typeface="Lato"/>
                        <a:ea typeface="Lato"/>
                        <a:cs typeface="Lato"/>
                        <a:sym typeface="Lato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155C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Lato"/>
                          <a:ea typeface="Lato"/>
                          <a:cs typeface="Lato"/>
                          <a:sym typeface="Lato"/>
                        </a:rPr>
                        <a:t>Maple</a:t>
                      </a:r>
                      <a:endParaRPr>
                        <a:latin typeface="Lato"/>
                        <a:ea typeface="Lato"/>
                        <a:cs typeface="Lato"/>
                        <a:sym typeface="Lato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155CC"/>
                    </a:solidFill>
                  </a:tcPr>
                </a:tc>
              </a:tr>
              <a:tr h="13595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Lato"/>
                          <a:ea typeface="Lato"/>
                          <a:cs typeface="Lato"/>
                          <a:sym typeface="Lato"/>
                        </a:rPr>
                        <a:t>Mon</a:t>
                      </a:r>
                      <a:endParaRPr>
                        <a:latin typeface="Lato"/>
                        <a:ea typeface="Lato"/>
                        <a:cs typeface="Lato"/>
                        <a:sym typeface="Lato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6D9EEB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Lato"/>
                          <a:ea typeface="Lato"/>
                          <a:cs typeface="Lato"/>
                          <a:sym typeface="Lato"/>
                        </a:rPr>
                        <a:t>3</a:t>
                      </a:r>
                      <a:endParaRPr>
                        <a:latin typeface="Lato"/>
                        <a:ea typeface="Lato"/>
                        <a:cs typeface="Lato"/>
                        <a:sym typeface="Lato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CCCCC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Lato"/>
                          <a:ea typeface="Lato"/>
                          <a:cs typeface="Lato"/>
                          <a:sym typeface="Lato"/>
                        </a:rPr>
                        <a:t>5</a:t>
                      </a:r>
                      <a:endParaRPr>
                        <a:latin typeface="Lato"/>
                        <a:ea typeface="Lato"/>
                        <a:cs typeface="Lato"/>
                        <a:sym typeface="Lato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CCCCC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Lato"/>
                          <a:ea typeface="Lato"/>
                          <a:cs typeface="Lato"/>
                          <a:sym typeface="Lato"/>
                        </a:rPr>
                        <a:t>9</a:t>
                      </a:r>
                      <a:endParaRPr>
                        <a:latin typeface="Lato"/>
                        <a:ea typeface="Lato"/>
                        <a:cs typeface="Lato"/>
                        <a:sym typeface="Lato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CCCCCC"/>
                    </a:solidFill>
                  </a:tcPr>
                </a:tc>
              </a:tr>
              <a:tr h="13595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Lato"/>
                          <a:ea typeface="Lato"/>
                          <a:cs typeface="Lato"/>
                          <a:sym typeface="Lato"/>
                        </a:rPr>
                        <a:t>Tues</a:t>
                      </a:r>
                      <a:endParaRPr>
                        <a:latin typeface="Lato"/>
                        <a:ea typeface="Lato"/>
                        <a:cs typeface="Lato"/>
                        <a:sym typeface="Lato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6D9EEB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Lato"/>
                          <a:ea typeface="Lato"/>
                          <a:cs typeface="Lato"/>
                          <a:sym typeface="Lato"/>
                        </a:rPr>
                        <a:t>7</a:t>
                      </a:r>
                      <a:endParaRPr>
                        <a:latin typeface="Lato"/>
                        <a:ea typeface="Lato"/>
                        <a:cs typeface="Lato"/>
                        <a:sym typeface="Lato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CCCCC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Lato"/>
                          <a:ea typeface="Lato"/>
                          <a:cs typeface="Lato"/>
                          <a:sym typeface="Lato"/>
                        </a:rPr>
                        <a:t>1</a:t>
                      </a:r>
                      <a:endParaRPr>
                        <a:latin typeface="Lato"/>
                        <a:ea typeface="Lato"/>
                        <a:cs typeface="Lato"/>
                        <a:sym typeface="Lato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CCCCC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Lato"/>
                          <a:ea typeface="Lato"/>
                          <a:cs typeface="Lato"/>
                          <a:sym typeface="Lato"/>
                        </a:rPr>
                        <a:t>4</a:t>
                      </a:r>
                      <a:endParaRPr>
                        <a:latin typeface="Lato"/>
                        <a:ea typeface="Lato"/>
                        <a:cs typeface="Lato"/>
                        <a:sym typeface="Lato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CCCCCC"/>
                    </a:solidFill>
                  </a:tcPr>
                </a:tc>
              </a:tr>
              <a:tr h="13595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Lato"/>
                          <a:ea typeface="Lato"/>
                          <a:cs typeface="Lato"/>
                          <a:sym typeface="Lato"/>
                        </a:rPr>
                        <a:t>Wed</a:t>
                      </a:r>
                      <a:endParaRPr>
                        <a:latin typeface="Lato"/>
                        <a:ea typeface="Lato"/>
                        <a:cs typeface="Lato"/>
                        <a:sym typeface="Lato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6D9EEB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Lato"/>
                          <a:ea typeface="Lato"/>
                          <a:cs typeface="Lato"/>
                          <a:sym typeface="Lato"/>
                        </a:rPr>
                        <a:t>1</a:t>
                      </a:r>
                      <a:endParaRPr>
                        <a:latin typeface="Lato"/>
                        <a:ea typeface="Lato"/>
                        <a:cs typeface="Lato"/>
                        <a:sym typeface="Lato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CCCCC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Lato"/>
                          <a:ea typeface="Lato"/>
                          <a:cs typeface="Lato"/>
                          <a:sym typeface="Lato"/>
                        </a:rPr>
                        <a:t>6</a:t>
                      </a:r>
                      <a:endParaRPr>
                        <a:latin typeface="Lato"/>
                        <a:ea typeface="Lato"/>
                        <a:cs typeface="Lato"/>
                        <a:sym typeface="Lato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CCCCC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Lato"/>
                          <a:ea typeface="Lato"/>
                          <a:cs typeface="Lato"/>
                          <a:sym typeface="Lato"/>
                        </a:rPr>
                        <a:t>3</a:t>
                      </a:r>
                      <a:endParaRPr>
                        <a:latin typeface="Lato"/>
                        <a:ea typeface="Lato"/>
                        <a:cs typeface="Lato"/>
                        <a:sym typeface="Lato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CCCCCC"/>
                    </a:solidFill>
                  </a:tcPr>
                </a:tc>
              </a:tr>
              <a:tr h="12375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Lato"/>
                          <a:ea typeface="Lato"/>
                          <a:cs typeface="Lato"/>
                          <a:sym typeface="Lato"/>
                        </a:rPr>
                        <a:t>Thurs</a:t>
                      </a:r>
                      <a:endParaRPr>
                        <a:latin typeface="Lato"/>
                        <a:ea typeface="Lato"/>
                        <a:cs typeface="Lato"/>
                        <a:sym typeface="Lato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6D9EEB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Lato"/>
                          <a:ea typeface="Lato"/>
                          <a:cs typeface="Lato"/>
                          <a:sym typeface="Lato"/>
                        </a:rPr>
                        <a:t>6</a:t>
                      </a:r>
                      <a:endParaRPr>
                        <a:latin typeface="Lato"/>
                        <a:ea typeface="Lato"/>
                        <a:cs typeface="Lato"/>
                        <a:sym typeface="Lato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CCCCC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Lato"/>
                          <a:ea typeface="Lato"/>
                          <a:cs typeface="Lato"/>
                          <a:sym typeface="Lato"/>
                        </a:rPr>
                        <a:t>9</a:t>
                      </a:r>
                      <a:endParaRPr>
                        <a:latin typeface="Lato"/>
                        <a:ea typeface="Lato"/>
                        <a:cs typeface="Lato"/>
                        <a:sym typeface="Lato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CCCCC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Lato"/>
                          <a:ea typeface="Lato"/>
                          <a:cs typeface="Lato"/>
                          <a:sym typeface="Lato"/>
                        </a:rPr>
                        <a:t>8</a:t>
                      </a:r>
                      <a:endParaRPr>
                        <a:latin typeface="Lato"/>
                        <a:ea typeface="Lato"/>
                        <a:cs typeface="Lato"/>
                        <a:sym typeface="Lato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CCCCCC"/>
                    </a:solidFill>
                  </a:tcPr>
                </a:tc>
              </a:tr>
              <a:tr h="12375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Lato"/>
                          <a:ea typeface="Lato"/>
                          <a:cs typeface="Lato"/>
                          <a:sym typeface="Lato"/>
                        </a:rPr>
                        <a:t>Fri</a:t>
                      </a:r>
                      <a:endParaRPr>
                        <a:latin typeface="Lato"/>
                        <a:ea typeface="Lato"/>
                        <a:cs typeface="Lato"/>
                        <a:sym typeface="Lato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6D9EEB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Lato"/>
                          <a:ea typeface="Lato"/>
                          <a:cs typeface="Lato"/>
                          <a:sym typeface="Lato"/>
                        </a:rPr>
                        <a:t>4</a:t>
                      </a:r>
                      <a:endParaRPr>
                        <a:latin typeface="Lato"/>
                        <a:ea typeface="Lato"/>
                        <a:cs typeface="Lato"/>
                        <a:sym typeface="Lato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CCCCC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Lato"/>
                          <a:ea typeface="Lato"/>
                          <a:cs typeface="Lato"/>
                          <a:sym typeface="Lato"/>
                        </a:rPr>
                        <a:t>1</a:t>
                      </a:r>
                      <a:endParaRPr>
                        <a:latin typeface="Lato"/>
                        <a:ea typeface="Lato"/>
                        <a:cs typeface="Lato"/>
                        <a:sym typeface="Lato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CCCCC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Lato"/>
                          <a:ea typeface="Lato"/>
                          <a:cs typeface="Lato"/>
                          <a:sym typeface="Lato"/>
                        </a:rPr>
                        <a:t>6</a:t>
                      </a:r>
                      <a:endParaRPr>
                        <a:latin typeface="Lato"/>
                        <a:ea typeface="Lato"/>
                        <a:cs typeface="Lato"/>
                        <a:sym typeface="Lato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CCCCCC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150" name="Google Shape;150;p15"/>
          <p:cNvGraphicFramePr/>
          <p:nvPr/>
        </p:nvGraphicFramePr>
        <p:xfrm>
          <a:off x="3456825" y="199055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{A53319A4-BB05-4323-826D-80545E43B7DE}</a:tableStyleId>
              </a:tblPr>
              <a:tblGrid>
                <a:gridCol w="780600"/>
                <a:gridCol w="780600"/>
                <a:gridCol w="780600"/>
              </a:tblGrid>
              <a:tr h="13595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>
                        <a:latin typeface="Lato"/>
                        <a:ea typeface="Lato"/>
                        <a:cs typeface="Lato"/>
                        <a:sym typeface="Lato"/>
                      </a:endParaRPr>
                    </a:p>
                  </a:txBody>
                  <a:tcPr marT="91425" marB="91425" marR="91425" marL="91425"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Lato"/>
                          <a:ea typeface="Lato"/>
                          <a:cs typeface="Lato"/>
                          <a:sym typeface="Lato"/>
                        </a:rPr>
                        <a:t>Weight</a:t>
                      </a:r>
                      <a:endParaRPr>
                        <a:latin typeface="Lato"/>
                        <a:ea typeface="Lato"/>
                        <a:cs typeface="Lato"/>
                        <a:sym typeface="Lato"/>
                      </a:endParaRPr>
                    </a:p>
                  </a:txBody>
                  <a:tcPr marT="91425" marB="91425" marR="91425" marL="91425">
                    <a:solidFill>
                      <a:srgbClr val="CC000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Lato"/>
                          <a:ea typeface="Lato"/>
                          <a:cs typeface="Lato"/>
                          <a:sym typeface="Lato"/>
                        </a:rPr>
                        <a:t>Cost</a:t>
                      </a:r>
                      <a:endParaRPr>
                        <a:latin typeface="Lato"/>
                        <a:ea typeface="Lato"/>
                        <a:cs typeface="Lato"/>
                        <a:sym typeface="Lato"/>
                      </a:endParaRPr>
                    </a:p>
                  </a:txBody>
                  <a:tcPr marT="91425" marB="91425" marR="91425" marL="91425">
                    <a:solidFill>
                      <a:srgbClr val="CC0000"/>
                    </a:solidFill>
                  </a:tcPr>
                </a:tc>
              </a:tr>
              <a:tr h="13595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Lato"/>
                          <a:ea typeface="Lato"/>
                          <a:cs typeface="Lato"/>
                          <a:sym typeface="Lato"/>
                        </a:rPr>
                        <a:t>Cedar</a:t>
                      </a:r>
                      <a:endParaRPr>
                        <a:latin typeface="Lato"/>
                        <a:ea typeface="Lato"/>
                        <a:cs typeface="Lato"/>
                        <a:sym typeface="Lato"/>
                      </a:endParaRPr>
                    </a:p>
                  </a:txBody>
                  <a:tcPr marT="91425" marB="91425" marR="91425" marL="91425">
                    <a:solidFill>
                      <a:srgbClr val="E06666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Lato"/>
                          <a:ea typeface="Lato"/>
                          <a:cs typeface="Lato"/>
                          <a:sym typeface="Lato"/>
                        </a:rPr>
                        <a:t>8lb</a:t>
                      </a:r>
                      <a:endParaRPr>
                        <a:latin typeface="Lato"/>
                        <a:ea typeface="Lato"/>
                        <a:cs typeface="Lato"/>
                        <a:sym typeface="Lato"/>
                      </a:endParaRPr>
                    </a:p>
                  </a:txBody>
                  <a:tcPr marT="91425" marB="91425" marR="91425" marL="91425">
                    <a:solidFill>
                      <a:srgbClr val="CCCCC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Lato"/>
                          <a:ea typeface="Lato"/>
                          <a:cs typeface="Lato"/>
                          <a:sym typeface="Lato"/>
                        </a:rPr>
                        <a:t>$20</a:t>
                      </a:r>
                      <a:endParaRPr>
                        <a:latin typeface="Lato"/>
                        <a:ea typeface="Lato"/>
                        <a:cs typeface="Lato"/>
                        <a:sym typeface="Lato"/>
                      </a:endParaRPr>
                    </a:p>
                  </a:txBody>
                  <a:tcPr marT="91425" marB="91425" marR="91425" marL="91425">
                    <a:solidFill>
                      <a:srgbClr val="CCCCCC"/>
                    </a:solidFill>
                  </a:tcPr>
                </a:tc>
              </a:tr>
              <a:tr h="13595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Lato"/>
                          <a:ea typeface="Lato"/>
                          <a:cs typeface="Lato"/>
                          <a:sym typeface="Lato"/>
                        </a:rPr>
                        <a:t>Birch</a:t>
                      </a:r>
                      <a:endParaRPr>
                        <a:latin typeface="Lato"/>
                        <a:ea typeface="Lato"/>
                        <a:cs typeface="Lato"/>
                        <a:sym typeface="Lato"/>
                      </a:endParaRPr>
                    </a:p>
                  </a:txBody>
                  <a:tcPr marT="91425" marB="91425" marR="91425" marL="91425">
                    <a:solidFill>
                      <a:srgbClr val="E06666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Lato"/>
                          <a:ea typeface="Lato"/>
                          <a:cs typeface="Lato"/>
                          <a:sym typeface="Lato"/>
                        </a:rPr>
                        <a:t>12lb</a:t>
                      </a:r>
                      <a:endParaRPr>
                        <a:latin typeface="Lato"/>
                        <a:ea typeface="Lato"/>
                        <a:cs typeface="Lato"/>
                        <a:sym typeface="Lato"/>
                      </a:endParaRPr>
                    </a:p>
                  </a:txBody>
                  <a:tcPr marT="91425" marB="91425" marR="91425" marL="91425">
                    <a:solidFill>
                      <a:srgbClr val="CCCCC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Lato"/>
                          <a:ea typeface="Lato"/>
                          <a:cs typeface="Lato"/>
                          <a:sym typeface="Lato"/>
                        </a:rPr>
                        <a:t>$16</a:t>
                      </a:r>
                      <a:endParaRPr>
                        <a:latin typeface="Lato"/>
                        <a:ea typeface="Lato"/>
                        <a:cs typeface="Lato"/>
                        <a:sym typeface="Lato"/>
                      </a:endParaRPr>
                    </a:p>
                  </a:txBody>
                  <a:tcPr marT="91425" marB="91425" marR="91425" marL="91425">
                    <a:solidFill>
                      <a:srgbClr val="CCCCCC"/>
                    </a:solidFill>
                  </a:tcPr>
                </a:tc>
              </a:tr>
              <a:tr h="13595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Lato"/>
                          <a:ea typeface="Lato"/>
                          <a:cs typeface="Lato"/>
                          <a:sym typeface="Lato"/>
                        </a:rPr>
                        <a:t>Maple</a:t>
                      </a:r>
                      <a:endParaRPr>
                        <a:latin typeface="Lato"/>
                        <a:ea typeface="Lato"/>
                        <a:cs typeface="Lato"/>
                        <a:sym typeface="Lato"/>
                      </a:endParaRPr>
                    </a:p>
                  </a:txBody>
                  <a:tcPr marT="91425" marB="91425" marR="91425" marL="91425">
                    <a:solidFill>
                      <a:srgbClr val="E06666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Lato"/>
                          <a:ea typeface="Lato"/>
                          <a:cs typeface="Lato"/>
                          <a:sym typeface="Lato"/>
                        </a:rPr>
                        <a:t>10lb</a:t>
                      </a:r>
                      <a:endParaRPr>
                        <a:latin typeface="Lato"/>
                        <a:ea typeface="Lato"/>
                        <a:cs typeface="Lato"/>
                        <a:sym typeface="Lato"/>
                      </a:endParaRPr>
                    </a:p>
                  </a:txBody>
                  <a:tcPr marT="91425" marB="91425" marR="91425" marL="91425">
                    <a:solidFill>
                      <a:srgbClr val="CCCCC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Lato"/>
                          <a:ea typeface="Lato"/>
                          <a:cs typeface="Lato"/>
                          <a:sym typeface="Lato"/>
                        </a:rPr>
                        <a:t>$15</a:t>
                      </a:r>
                      <a:endParaRPr>
                        <a:latin typeface="Lato"/>
                        <a:ea typeface="Lato"/>
                        <a:cs typeface="Lato"/>
                        <a:sym typeface="Lato"/>
                      </a:endParaRPr>
                    </a:p>
                  </a:txBody>
                  <a:tcPr marT="91425" marB="91425" marR="91425" marL="91425">
                    <a:solidFill>
                      <a:srgbClr val="CCCCCC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151" name="Google Shape;151;p15"/>
          <p:cNvGraphicFramePr/>
          <p:nvPr/>
        </p:nvGraphicFramePr>
        <p:xfrm>
          <a:off x="6393875" y="199055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{A53319A4-BB05-4323-826D-80545E43B7DE}</a:tableStyleId>
              </a:tblPr>
              <a:tblGrid>
                <a:gridCol w="763725"/>
                <a:gridCol w="763725"/>
                <a:gridCol w="763725"/>
              </a:tblGrid>
              <a:tr h="13595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>
                        <a:latin typeface="Lato"/>
                        <a:ea typeface="Lato"/>
                        <a:cs typeface="Lato"/>
                        <a:sym typeface="Lato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674EA7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Lato"/>
                          <a:ea typeface="Lato"/>
                          <a:cs typeface="Lato"/>
                          <a:sym typeface="Lato"/>
                        </a:rPr>
                        <a:t>Weight</a:t>
                      </a:r>
                      <a:endParaRPr>
                        <a:latin typeface="Lato"/>
                        <a:ea typeface="Lato"/>
                        <a:cs typeface="Lato"/>
                        <a:sym typeface="Lato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CC000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Lato"/>
                          <a:ea typeface="Lato"/>
                          <a:cs typeface="Lato"/>
                          <a:sym typeface="Lato"/>
                        </a:rPr>
                        <a:t>Cost</a:t>
                      </a:r>
                      <a:endParaRPr>
                        <a:latin typeface="Lato"/>
                        <a:ea typeface="Lato"/>
                        <a:cs typeface="Lato"/>
                        <a:sym typeface="Lato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CC0000"/>
                    </a:solidFill>
                  </a:tcPr>
                </a:tc>
              </a:tr>
              <a:tr h="13595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Lato"/>
                          <a:ea typeface="Lato"/>
                          <a:cs typeface="Lato"/>
                          <a:sym typeface="Lato"/>
                        </a:rPr>
                        <a:t>Mon</a:t>
                      </a:r>
                      <a:endParaRPr>
                        <a:latin typeface="Lato"/>
                        <a:ea typeface="Lato"/>
                        <a:cs typeface="Lato"/>
                        <a:sym typeface="Lato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6D9EEB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Lato"/>
                          <a:ea typeface="Lato"/>
                          <a:cs typeface="Lato"/>
                          <a:sym typeface="Lato"/>
                        </a:rPr>
                        <a:t>174lb</a:t>
                      </a:r>
                      <a:endParaRPr>
                        <a:latin typeface="Lato"/>
                        <a:ea typeface="Lato"/>
                        <a:cs typeface="Lato"/>
                        <a:sym typeface="Lato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CCCCC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Lato"/>
                          <a:ea typeface="Lato"/>
                          <a:cs typeface="Lato"/>
                          <a:sym typeface="Lato"/>
                        </a:rPr>
                        <a:t>$215</a:t>
                      </a:r>
                      <a:endParaRPr>
                        <a:latin typeface="Lato"/>
                        <a:ea typeface="Lato"/>
                        <a:cs typeface="Lato"/>
                        <a:sym typeface="Lato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CCCCCC"/>
                    </a:solidFill>
                  </a:tcPr>
                </a:tc>
              </a:tr>
              <a:tr h="13595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Lato"/>
                          <a:ea typeface="Lato"/>
                          <a:cs typeface="Lato"/>
                          <a:sym typeface="Lato"/>
                        </a:rPr>
                        <a:t>Tues</a:t>
                      </a:r>
                      <a:endParaRPr>
                        <a:latin typeface="Lato"/>
                        <a:ea typeface="Lato"/>
                        <a:cs typeface="Lato"/>
                        <a:sym typeface="Lato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6D9EEB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Lato"/>
                          <a:ea typeface="Lato"/>
                          <a:cs typeface="Lato"/>
                          <a:sym typeface="Lato"/>
                        </a:rPr>
                        <a:t>108lb</a:t>
                      </a:r>
                      <a:endParaRPr>
                        <a:latin typeface="Lato"/>
                        <a:ea typeface="Lato"/>
                        <a:cs typeface="Lato"/>
                        <a:sym typeface="Lato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CCCCC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Lato"/>
                          <a:ea typeface="Lato"/>
                          <a:cs typeface="Lato"/>
                          <a:sym typeface="Lato"/>
                        </a:rPr>
                        <a:t>$216</a:t>
                      </a:r>
                      <a:endParaRPr>
                        <a:latin typeface="Lato"/>
                        <a:ea typeface="Lato"/>
                        <a:cs typeface="Lato"/>
                        <a:sym typeface="Lato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CCCCCC"/>
                    </a:solidFill>
                  </a:tcPr>
                </a:tc>
              </a:tr>
              <a:tr h="13595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Lato"/>
                          <a:ea typeface="Lato"/>
                          <a:cs typeface="Lato"/>
                          <a:sym typeface="Lato"/>
                        </a:rPr>
                        <a:t>Wed</a:t>
                      </a:r>
                      <a:endParaRPr>
                        <a:latin typeface="Lato"/>
                        <a:ea typeface="Lato"/>
                        <a:cs typeface="Lato"/>
                        <a:sym typeface="Lato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6D9EEB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Lato"/>
                          <a:ea typeface="Lato"/>
                          <a:cs typeface="Lato"/>
                          <a:sym typeface="Lato"/>
                        </a:rPr>
                        <a:t>110lb</a:t>
                      </a:r>
                      <a:endParaRPr>
                        <a:latin typeface="Lato"/>
                        <a:ea typeface="Lato"/>
                        <a:cs typeface="Lato"/>
                        <a:sym typeface="Lato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CCCCC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Lato"/>
                          <a:ea typeface="Lato"/>
                          <a:cs typeface="Lato"/>
                          <a:sym typeface="Lato"/>
                        </a:rPr>
                        <a:t>$161</a:t>
                      </a:r>
                      <a:endParaRPr>
                        <a:latin typeface="Lato"/>
                        <a:ea typeface="Lato"/>
                        <a:cs typeface="Lato"/>
                        <a:sym typeface="Lato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CCCCCC"/>
                    </a:solidFill>
                  </a:tcPr>
                </a:tc>
              </a:tr>
              <a:tr h="12375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Lato"/>
                          <a:ea typeface="Lato"/>
                          <a:cs typeface="Lato"/>
                          <a:sym typeface="Lato"/>
                        </a:rPr>
                        <a:t>Thurs</a:t>
                      </a:r>
                      <a:endParaRPr>
                        <a:latin typeface="Lato"/>
                        <a:ea typeface="Lato"/>
                        <a:cs typeface="Lato"/>
                        <a:sym typeface="Lato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6D9EEB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Lato"/>
                          <a:ea typeface="Lato"/>
                          <a:cs typeface="Lato"/>
                          <a:sym typeface="Lato"/>
                        </a:rPr>
                        <a:t>236lb</a:t>
                      </a:r>
                      <a:endParaRPr>
                        <a:latin typeface="Lato"/>
                        <a:ea typeface="Lato"/>
                        <a:cs typeface="Lato"/>
                        <a:sym typeface="Lato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CCCCC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Lato"/>
                          <a:ea typeface="Lato"/>
                          <a:cs typeface="Lato"/>
                          <a:sym typeface="Lato"/>
                        </a:rPr>
                        <a:t>$384</a:t>
                      </a:r>
                      <a:endParaRPr>
                        <a:latin typeface="Lato"/>
                        <a:ea typeface="Lato"/>
                        <a:cs typeface="Lato"/>
                        <a:sym typeface="Lato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CCCCCC"/>
                    </a:solidFill>
                  </a:tcPr>
                </a:tc>
              </a:tr>
              <a:tr h="12375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Lato"/>
                          <a:ea typeface="Lato"/>
                          <a:cs typeface="Lato"/>
                          <a:sym typeface="Lato"/>
                        </a:rPr>
                        <a:t>Fri</a:t>
                      </a:r>
                      <a:endParaRPr>
                        <a:latin typeface="Lato"/>
                        <a:ea typeface="Lato"/>
                        <a:cs typeface="Lato"/>
                        <a:sym typeface="Lato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6D9EEB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Lato"/>
                          <a:ea typeface="Lato"/>
                          <a:cs typeface="Lato"/>
                          <a:sym typeface="Lato"/>
                        </a:rPr>
                        <a:t>104lb</a:t>
                      </a:r>
                      <a:endParaRPr>
                        <a:latin typeface="Lato"/>
                        <a:ea typeface="Lato"/>
                        <a:cs typeface="Lato"/>
                        <a:sym typeface="Lato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CCCCC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Lato"/>
                          <a:ea typeface="Lato"/>
                          <a:cs typeface="Lato"/>
                          <a:sym typeface="Lato"/>
                        </a:rPr>
                        <a:t>$186</a:t>
                      </a:r>
                      <a:endParaRPr>
                        <a:latin typeface="Lato"/>
                        <a:ea typeface="Lato"/>
                        <a:cs typeface="Lato"/>
                        <a:sym typeface="Lato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CCCCCC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5" name="Shape 1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6" name="Google Shape;156;p16"/>
          <p:cNvSpPr txBox="1"/>
          <p:nvPr>
            <p:ph type="title"/>
          </p:nvPr>
        </p:nvSpPr>
        <p:spPr>
          <a:xfrm>
            <a:off x="1297500" y="393750"/>
            <a:ext cx="7038900" cy="914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Why it’s useful</a:t>
            </a:r>
            <a:endParaRPr/>
          </a:p>
        </p:txBody>
      </p:sp>
      <p:sp>
        <p:nvSpPr>
          <p:cNvPr id="157" name="Google Shape;157;p16"/>
          <p:cNvSpPr txBox="1"/>
          <p:nvPr>
            <p:ph idx="1" type="body"/>
          </p:nvPr>
        </p:nvSpPr>
        <p:spPr>
          <a:xfrm>
            <a:off x="1297500" y="1567550"/>
            <a:ext cx="7038900" cy="291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23850" lvl="0" marL="457200" rtl="0" algn="l">
              <a:spcBef>
                <a:spcPts val="0"/>
              </a:spcBef>
              <a:spcAft>
                <a:spcPts val="0"/>
              </a:spcAft>
              <a:buSzPts val="1500"/>
              <a:buChar char="●"/>
            </a:pPr>
            <a:r>
              <a:rPr lang="en" sz="1500"/>
              <a:t>3D Modeling</a:t>
            </a:r>
            <a:endParaRPr sz="1500"/>
          </a:p>
          <a:p>
            <a:pPr indent="-323850" lvl="0" marL="457200" rtl="0" algn="l">
              <a:spcBef>
                <a:spcPts val="0"/>
              </a:spcBef>
              <a:spcAft>
                <a:spcPts val="0"/>
              </a:spcAft>
              <a:buSzPts val="1500"/>
              <a:buChar char="●"/>
            </a:pPr>
            <a:r>
              <a:rPr lang="en" sz="1500"/>
              <a:t>Image manipulation</a:t>
            </a:r>
            <a:endParaRPr sz="1500"/>
          </a:p>
          <a:p>
            <a:pPr indent="-323850" lvl="0" marL="457200" rtl="0" algn="l">
              <a:spcBef>
                <a:spcPts val="0"/>
              </a:spcBef>
              <a:spcAft>
                <a:spcPts val="0"/>
              </a:spcAft>
              <a:buSzPts val="1500"/>
              <a:buChar char="●"/>
            </a:pPr>
            <a:r>
              <a:rPr lang="en" sz="1500"/>
              <a:t>Processing AV signals</a:t>
            </a:r>
            <a:endParaRPr sz="1500"/>
          </a:p>
          <a:p>
            <a:pPr indent="-323850" lvl="0" marL="457200" rtl="0" algn="l">
              <a:spcBef>
                <a:spcPts val="0"/>
              </a:spcBef>
              <a:spcAft>
                <a:spcPts val="0"/>
              </a:spcAft>
              <a:buSzPts val="1500"/>
              <a:buChar char="●"/>
            </a:pPr>
            <a:r>
              <a:rPr lang="en" sz="1500"/>
              <a:t>Neural Networks</a:t>
            </a:r>
            <a:endParaRPr sz="1500"/>
          </a:p>
          <a:p>
            <a:pPr indent="-323850" lvl="0" marL="457200" rtl="0" algn="l">
              <a:spcBef>
                <a:spcPts val="0"/>
              </a:spcBef>
              <a:spcAft>
                <a:spcPts val="0"/>
              </a:spcAft>
              <a:buSzPts val="1500"/>
              <a:buChar char="●"/>
            </a:pPr>
            <a:r>
              <a:rPr lang="en" sz="1500"/>
              <a:t>Graph analysis</a:t>
            </a:r>
            <a:endParaRPr sz="1500"/>
          </a:p>
          <a:p>
            <a:pPr indent="-323850" lvl="0" marL="457200" rtl="0" algn="l">
              <a:spcBef>
                <a:spcPts val="0"/>
              </a:spcBef>
              <a:spcAft>
                <a:spcPts val="0"/>
              </a:spcAft>
              <a:buSzPts val="1500"/>
              <a:buChar char="●"/>
            </a:pPr>
            <a:r>
              <a:rPr lang="en" sz="1500"/>
              <a:t>etc.</a:t>
            </a:r>
            <a:endParaRPr sz="1500"/>
          </a:p>
        </p:txBody>
      </p:sp>
      <p:pic>
        <p:nvPicPr>
          <p:cNvPr id="158" name="Google Shape;158;p1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863900" y="950423"/>
            <a:ext cx="4280102" cy="2216326"/>
          </a:xfrm>
          <a:prstGeom prst="rect">
            <a:avLst/>
          </a:prstGeom>
          <a:noFill/>
          <a:ln>
            <a:noFill/>
          </a:ln>
        </p:spPr>
      </p:pic>
      <p:pic>
        <p:nvPicPr>
          <p:cNvPr id="159" name="Google Shape;159;p16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384135" y="3166750"/>
            <a:ext cx="4759864" cy="19767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3" name="Shape 1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4" name="Google Shape;164;p17"/>
          <p:cNvSpPr txBox="1"/>
          <p:nvPr>
            <p:ph type="title"/>
          </p:nvPr>
        </p:nvSpPr>
        <p:spPr>
          <a:xfrm>
            <a:off x="1297500" y="393750"/>
            <a:ext cx="7038900" cy="914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Research Questions:</a:t>
            </a:r>
            <a:endParaRPr/>
          </a:p>
        </p:txBody>
      </p:sp>
      <p:sp>
        <p:nvSpPr>
          <p:cNvPr id="165" name="Google Shape;165;p17"/>
          <p:cNvSpPr txBox="1"/>
          <p:nvPr>
            <p:ph idx="1" type="body"/>
          </p:nvPr>
        </p:nvSpPr>
        <p:spPr>
          <a:xfrm>
            <a:off x="2057675" y="1545825"/>
            <a:ext cx="7038900" cy="291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9250" lvl="0" marL="914400" rtl="0" algn="l">
              <a:spcBef>
                <a:spcPts val="0"/>
              </a:spcBef>
              <a:spcAft>
                <a:spcPts val="0"/>
              </a:spcAft>
              <a:buSzPts val="1900"/>
              <a:buChar char="●"/>
            </a:pPr>
            <a:r>
              <a:rPr lang="en" sz="1900"/>
              <a:t>How does the runtime of matrix multiplication scale as the size of the input matrices increases?</a:t>
            </a:r>
            <a:endParaRPr sz="1900"/>
          </a:p>
          <a:p>
            <a:pPr indent="0" lvl="0" marL="91440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1900"/>
          </a:p>
          <a:p>
            <a:pPr indent="-349250" lvl="0" marL="914400" rtl="0" algn="l">
              <a:spcBef>
                <a:spcPts val="1200"/>
              </a:spcBef>
              <a:spcAft>
                <a:spcPts val="0"/>
              </a:spcAft>
              <a:buSzPts val="1900"/>
              <a:buChar char="●"/>
            </a:pPr>
            <a:r>
              <a:rPr lang="en" sz="1900"/>
              <a:t>How does the performance of a manually implemented matrix multiplication algorithm compare to an optimized library implementation?</a:t>
            </a:r>
            <a:endParaRPr sz="1900"/>
          </a:p>
        </p:txBody>
      </p:sp>
      <p:pic>
        <p:nvPicPr>
          <p:cNvPr descr="Question mark sign. isolated white (Provided by Getty Images)" id="166" name="Google Shape;166;p1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76475" y="2913825"/>
            <a:ext cx="2451625" cy="183872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0" name="Shape 1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1" name="Google Shape;171;p18"/>
          <p:cNvSpPr txBox="1"/>
          <p:nvPr>
            <p:ph type="title"/>
          </p:nvPr>
        </p:nvSpPr>
        <p:spPr>
          <a:xfrm>
            <a:off x="1297500" y="393750"/>
            <a:ext cx="7038900" cy="914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Standard Matrix Multiplication</a:t>
            </a:r>
            <a:endParaRPr/>
          </a:p>
        </p:txBody>
      </p:sp>
      <p:graphicFrame>
        <p:nvGraphicFramePr>
          <p:cNvPr id="172" name="Google Shape;172;p18"/>
          <p:cNvGraphicFramePr/>
          <p:nvPr/>
        </p:nvGraphicFramePr>
        <p:xfrm>
          <a:off x="1096000" y="122657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{A53319A4-BB05-4323-826D-80545E43B7DE}</a:tableStyleId>
              </a:tblPr>
              <a:tblGrid>
                <a:gridCol w="696150"/>
                <a:gridCol w="696150"/>
              </a:tblGrid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Lato"/>
                          <a:ea typeface="Lato"/>
                          <a:cs typeface="Lato"/>
                          <a:sym typeface="Lato"/>
                        </a:rPr>
                        <a:t>A11</a:t>
                      </a:r>
                      <a:endParaRPr>
                        <a:latin typeface="Lato"/>
                        <a:ea typeface="Lato"/>
                        <a:cs typeface="Lato"/>
                        <a:sym typeface="Lato"/>
                      </a:endParaRPr>
                    </a:p>
                  </a:txBody>
                  <a:tcPr marT="91425" marB="91425" marR="91425" marL="91425">
                    <a:solidFill>
                      <a:srgbClr val="CCCCC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Lato"/>
                          <a:ea typeface="Lato"/>
                          <a:cs typeface="Lato"/>
                          <a:sym typeface="Lato"/>
                        </a:rPr>
                        <a:t>A12</a:t>
                      </a:r>
                      <a:endParaRPr>
                        <a:latin typeface="Lato"/>
                        <a:ea typeface="Lato"/>
                        <a:cs typeface="Lato"/>
                        <a:sym typeface="Lato"/>
                      </a:endParaRPr>
                    </a:p>
                  </a:txBody>
                  <a:tcPr marT="91425" marB="91425" marR="91425" marL="91425">
                    <a:solidFill>
                      <a:srgbClr val="CCCCCC"/>
                    </a:solidFill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Lato"/>
                          <a:ea typeface="Lato"/>
                          <a:cs typeface="Lato"/>
                          <a:sym typeface="Lato"/>
                        </a:rPr>
                        <a:t>A21</a:t>
                      </a:r>
                      <a:endParaRPr>
                        <a:latin typeface="Lato"/>
                        <a:ea typeface="Lato"/>
                        <a:cs typeface="Lato"/>
                        <a:sym typeface="Lato"/>
                      </a:endParaRPr>
                    </a:p>
                  </a:txBody>
                  <a:tcPr marT="91425" marB="91425" marR="91425" marL="91425">
                    <a:solidFill>
                      <a:srgbClr val="CCCCC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Lato"/>
                          <a:ea typeface="Lato"/>
                          <a:cs typeface="Lato"/>
                          <a:sym typeface="Lato"/>
                        </a:rPr>
                        <a:t>A22</a:t>
                      </a:r>
                      <a:endParaRPr>
                        <a:latin typeface="Lato"/>
                        <a:ea typeface="Lato"/>
                        <a:cs typeface="Lato"/>
                        <a:sym typeface="Lato"/>
                      </a:endParaRPr>
                    </a:p>
                  </a:txBody>
                  <a:tcPr marT="91425" marB="91425" marR="91425" marL="91425">
                    <a:solidFill>
                      <a:srgbClr val="CCCCCC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173" name="Google Shape;173;p18"/>
          <p:cNvGraphicFramePr/>
          <p:nvPr/>
        </p:nvGraphicFramePr>
        <p:xfrm>
          <a:off x="2950750" y="122657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{A53319A4-BB05-4323-826D-80545E43B7DE}</a:tableStyleId>
              </a:tblPr>
              <a:tblGrid>
                <a:gridCol w="696150"/>
                <a:gridCol w="696150"/>
              </a:tblGrid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Lato"/>
                          <a:ea typeface="Lato"/>
                          <a:cs typeface="Lato"/>
                          <a:sym typeface="Lato"/>
                        </a:rPr>
                        <a:t>B11</a:t>
                      </a:r>
                      <a:endParaRPr>
                        <a:latin typeface="Lato"/>
                        <a:ea typeface="Lato"/>
                        <a:cs typeface="Lato"/>
                        <a:sym typeface="Lato"/>
                      </a:endParaRPr>
                    </a:p>
                  </a:txBody>
                  <a:tcPr marT="91425" marB="91425" marR="91425" marL="91425">
                    <a:solidFill>
                      <a:srgbClr val="CCCCC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Lato"/>
                          <a:ea typeface="Lato"/>
                          <a:cs typeface="Lato"/>
                          <a:sym typeface="Lato"/>
                        </a:rPr>
                        <a:t>B12</a:t>
                      </a:r>
                      <a:endParaRPr>
                        <a:latin typeface="Lato"/>
                        <a:ea typeface="Lato"/>
                        <a:cs typeface="Lato"/>
                        <a:sym typeface="Lato"/>
                      </a:endParaRPr>
                    </a:p>
                  </a:txBody>
                  <a:tcPr marT="91425" marB="91425" marR="91425" marL="91425">
                    <a:solidFill>
                      <a:srgbClr val="CCCCCC"/>
                    </a:solidFill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Lato"/>
                          <a:ea typeface="Lato"/>
                          <a:cs typeface="Lato"/>
                          <a:sym typeface="Lato"/>
                        </a:rPr>
                        <a:t>B21</a:t>
                      </a:r>
                      <a:endParaRPr>
                        <a:latin typeface="Lato"/>
                        <a:ea typeface="Lato"/>
                        <a:cs typeface="Lato"/>
                        <a:sym typeface="Lato"/>
                      </a:endParaRPr>
                    </a:p>
                  </a:txBody>
                  <a:tcPr marT="91425" marB="91425" marR="91425" marL="91425">
                    <a:solidFill>
                      <a:srgbClr val="CCCCC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Lato"/>
                          <a:ea typeface="Lato"/>
                          <a:cs typeface="Lato"/>
                          <a:sym typeface="Lato"/>
                        </a:rPr>
                        <a:t>B22</a:t>
                      </a:r>
                      <a:endParaRPr>
                        <a:latin typeface="Lato"/>
                        <a:ea typeface="Lato"/>
                        <a:cs typeface="Lato"/>
                        <a:sym typeface="Lato"/>
                      </a:endParaRPr>
                    </a:p>
                  </a:txBody>
                  <a:tcPr marT="91425" marB="91425" marR="91425" marL="91425">
                    <a:solidFill>
                      <a:srgbClr val="CCCCCC"/>
                    </a:solidFill>
                  </a:tcPr>
                </a:tc>
              </a:tr>
            </a:tbl>
          </a:graphicData>
        </a:graphic>
      </p:graphicFrame>
      <p:sp>
        <p:nvSpPr>
          <p:cNvPr id="174" name="Google Shape;174;p18"/>
          <p:cNvSpPr txBox="1"/>
          <p:nvPr>
            <p:ph idx="1" type="body"/>
          </p:nvPr>
        </p:nvSpPr>
        <p:spPr>
          <a:xfrm>
            <a:off x="127450" y="2317875"/>
            <a:ext cx="7038900" cy="291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/>
              <a:t>C11 = </a:t>
            </a:r>
            <a:r>
              <a:rPr lang="en" sz="1500"/>
              <a:t>(A11* B11) + (A12*B21) </a:t>
            </a:r>
            <a:endParaRPr sz="1500"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500"/>
              <a:t>C12 = (A11* B12) + (A12*B22) </a:t>
            </a:r>
            <a:endParaRPr sz="1500"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500"/>
              <a:t>C21 = (A21* B11) + (A22*B21)  </a:t>
            </a:r>
            <a:endParaRPr sz="1500"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500"/>
              <a:t>C22 = (A21* B12) + (A22*B22) </a:t>
            </a:r>
            <a:endParaRPr sz="1500"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 sz="1500"/>
          </a:p>
        </p:txBody>
      </p:sp>
      <p:sp>
        <p:nvSpPr>
          <p:cNvPr id="175" name="Google Shape;175;p18"/>
          <p:cNvSpPr txBox="1"/>
          <p:nvPr/>
        </p:nvSpPr>
        <p:spPr>
          <a:xfrm>
            <a:off x="2559225" y="1006950"/>
            <a:ext cx="1016100" cy="738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36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rPr>
              <a:t>*</a:t>
            </a:r>
            <a:endParaRPr b="1" sz="3600">
              <a:solidFill>
                <a:schemeClr val="lt1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176" name="Google Shape;176;p18"/>
          <p:cNvSpPr txBox="1"/>
          <p:nvPr/>
        </p:nvSpPr>
        <p:spPr>
          <a:xfrm>
            <a:off x="4472675" y="1253325"/>
            <a:ext cx="1016100" cy="738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36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rPr>
              <a:t>=</a:t>
            </a:r>
            <a:endParaRPr b="1" sz="3600">
              <a:solidFill>
                <a:schemeClr val="lt1"/>
              </a:solidFill>
              <a:latin typeface="Lato"/>
              <a:ea typeface="Lato"/>
              <a:cs typeface="Lato"/>
              <a:sym typeface="Lato"/>
            </a:endParaRPr>
          </a:p>
        </p:txBody>
      </p:sp>
      <p:graphicFrame>
        <p:nvGraphicFramePr>
          <p:cNvPr id="177" name="Google Shape;177;p18"/>
          <p:cNvGraphicFramePr/>
          <p:nvPr/>
        </p:nvGraphicFramePr>
        <p:xfrm>
          <a:off x="5068950" y="122657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{A53319A4-BB05-4323-826D-80545E43B7DE}</a:tableStyleId>
              </a:tblPr>
              <a:tblGrid>
                <a:gridCol w="696150"/>
                <a:gridCol w="696150"/>
              </a:tblGrid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Lato"/>
                          <a:ea typeface="Lato"/>
                          <a:cs typeface="Lato"/>
                          <a:sym typeface="Lato"/>
                        </a:rPr>
                        <a:t>C11</a:t>
                      </a:r>
                      <a:endParaRPr>
                        <a:latin typeface="Lato"/>
                        <a:ea typeface="Lato"/>
                        <a:cs typeface="Lato"/>
                        <a:sym typeface="Lato"/>
                      </a:endParaRPr>
                    </a:p>
                  </a:txBody>
                  <a:tcPr marT="91425" marB="91425" marR="91425" marL="91425">
                    <a:solidFill>
                      <a:srgbClr val="CCCCC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Lato"/>
                          <a:ea typeface="Lato"/>
                          <a:cs typeface="Lato"/>
                          <a:sym typeface="Lato"/>
                        </a:rPr>
                        <a:t>C12</a:t>
                      </a:r>
                      <a:endParaRPr>
                        <a:latin typeface="Lato"/>
                        <a:ea typeface="Lato"/>
                        <a:cs typeface="Lato"/>
                        <a:sym typeface="Lato"/>
                      </a:endParaRPr>
                    </a:p>
                  </a:txBody>
                  <a:tcPr marT="91425" marB="91425" marR="91425" marL="91425">
                    <a:solidFill>
                      <a:srgbClr val="CCCCCC"/>
                    </a:solidFill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Lato"/>
                          <a:ea typeface="Lato"/>
                          <a:cs typeface="Lato"/>
                          <a:sym typeface="Lato"/>
                        </a:rPr>
                        <a:t>C21</a:t>
                      </a:r>
                      <a:endParaRPr>
                        <a:latin typeface="Lato"/>
                        <a:ea typeface="Lato"/>
                        <a:cs typeface="Lato"/>
                        <a:sym typeface="Lato"/>
                      </a:endParaRPr>
                    </a:p>
                  </a:txBody>
                  <a:tcPr marT="91425" marB="91425" marR="91425" marL="91425">
                    <a:solidFill>
                      <a:srgbClr val="CCCCC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Lato"/>
                          <a:ea typeface="Lato"/>
                          <a:cs typeface="Lato"/>
                          <a:sym typeface="Lato"/>
                        </a:rPr>
                        <a:t>C22</a:t>
                      </a:r>
                      <a:endParaRPr>
                        <a:latin typeface="Lato"/>
                        <a:ea typeface="Lato"/>
                        <a:cs typeface="Lato"/>
                        <a:sym typeface="Lato"/>
                      </a:endParaRPr>
                    </a:p>
                  </a:txBody>
                  <a:tcPr marT="91425" marB="91425" marR="91425" marL="91425">
                    <a:solidFill>
                      <a:srgbClr val="CCCCCC"/>
                    </a:solidFill>
                  </a:tcPr>
                </a:tc>
              </a:tr>
            </a:tbl>
          </a:graphicData>
        </a:graphic>
      </p:graphicFrame>
      <p:sp>
        <p:nvSpPr>
          <p:cNvPr id="178" name="Google Shape;178;p18"/>
          <p:cNvSpPr txBox="1"/>
          <p:nvPr/>
        </p:nvSpPr>
        <p:spPr>
          <a:xfrm>
            <a:off x="3471450" y="2317875"/>
            <a:ext cx="5472600" cy="2853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3365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700"/>
              <a:buFont typeface="Lato"/>
              <a:buChar char="-"/>
            </a:pPr>
            <a:r>
              <a:rPr lang="en" sz="17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rPr>
              <a:t>M</a:t>
            </a:r>
            <a:r>
              <a:rPr lang="en" sz="17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rPr>
              <a:t>ultiply Matrix A with Matrix B into Matrix C by taking the dot product of a row from Matrix A and a column of Matrix B. </a:t>
            </a:r>
            <a:endParaRPr sz="1700">
              <a:solidFill>
                <a:schemeClr val="lt1"/>
              </a:solidFill>
              <a:latin typeface="Lato"/>
              <a:ea typeface="Lato"/>
              <a:cs typeface="Lato"/>
              <a:sym typeface="Lato"/>
            </a:endParaRPr>
          </a:p>
          <a:p>
            <a:pPr indent="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700">
              <a:solidFill>
                <a:schemeClr val="lt1"/>
              </a:solidFill>
              <a:latin typeface="Lato"/>
              <a:ea typeface="Lato"/>
              <a:cs typeface="Lato"/>
              <a:sym typeface="Lato"/>
            </a:endParaRPr>
          </a:p>
          <a:p>
            <a:pPr indent="-3365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700"/>
              <a:buFont typeface="Lato"/>
              <a:buChar char="-"/>
            </a:pPr>
            <a:r>
              <a:rPr lang="en" sz="17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rPr>
              <a:t>The number of columns of Matrix A must equal the number of rows of Matrix B. </a:t>
            </a:r>
            <a:endParaRPr sz="1700">
              <a:solidFill>
                <a:schemeClr val="lt1"/>
              </a:solidFill>
              <a:latin typeface="Lato"/>
              <a:ea typeface="Lato"/>
              <a:cs typeface="Lato"/>
              <a:sym typeface="Lato"/>
            </a:endParaRPr>
          </a:p>
          <a:p>
            <a:pPr indent="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700">
              <a:solidFill>
                <a:schemeClr val="lt1"/>
              </a:solidFill>
              <a:latin typeface="Lato"/>
              <a:ea typeface="Lato"/>
              <a:cs typeface="Lato"/>
              <a:sym typeface="Lato"/>
            </a:endParaRPr>
          </a:p>
          <a:p>
            <a:pPr indent="-3365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700"/>
              <a:buFont typeface="Lato"/>
              <a:buChar char="-"/>
            </a:pPr>
            <a:r>
              <a:rPr lang="en" sz="17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rPr>
              <a:t>When thes size of </a:t>
            </a:r>
            <a:r>
              <a:rPr lang="en" sz="17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rPr>
              <a:t>A is m×n and B is n×p, then the size of C will be m×p.</a:t>
            </a:r>
            <a:endParaRPr sz="1700">
              <a:solidFill>
                <a:schemeClr val="lt1"/>
              </a:solidFill>
              <a:latin typeface="Lato"/>
              <a:ea typeface="Lato"/>
              <a:cs typeface="Lato"/>
              <a:sym typeface="Lato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2" name="Shape 1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3" name="Google Shape;183;p19"/>
          <p:cNvSpPr txBox="1"/>
          <p:nvPr>
            <p:ph type="title"/>
          </p:nvPr>
        </p:nvSpPr>
        <p:spPr>
          <a:xfrm>
            <a:off x="1297500" y="393750"/>
            <a:ext cx="7038900" cy="914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Standard Algorithm Code</a:t>
            </a:r>
            <a:endParaRPr/>
          </a:p>
        </p:txBody>
      </p:sp>
      <p:sp>
        <p:nvSpPr>
          <p:cNvPr id="184" name="Google Shape;184;p19"/>
          <p:cNvSpPr txBox="1"/>
          <p:nvPr/>
        </p:nvSpPr>
        <p:spPr>
          <a:xfrm>
            <a:off x="650200" y="916375"/>
            <a:ext cx="7038900" cy="4122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30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ALGORITHM MatrixMultiply(A[0..n−1][0..n−1], B[0..n−1][0..n−1])</a:t>
            </a:r>
            <a:endParaRPr>
              <a:solidFill>
                <a:schemeClr val="lt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l">
              <a:lnSpc>
                <a:spcPct val="115000"/>
              </a:lnSpc>
              <a:spcBef>
                <a:spcPts val="30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// Computes the matrix product of A and B</a:t>
            </a:r>
            <a:endParaRPr>
              <a:solidFill>
                <a:schemeClr val="lt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l">
              <a:lnSpc>
                <a:spcPct val="115000"/>
              </a:lnSpc>
              <a:spcBef>
                <a:spcPts val="30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// Input:  Two n × n matrices A and B</a:t>
            </a:r>
            <a:endParaRPr>
              <a:solidFill>
                <a:schemeClr val="lt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l">
              <a:lnSpc>
                <a:spcPct val="115000"/>
              </a:lnSpc>
              <a:spcBef>
                <a:spcPts val="30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// Output: Matrix C = A × B</a:t>
            </a:r>
            <a:endParaRPr>
              <a:solidFill>
                <a:schemeClr val="lt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l">
              <a:lnSpc>
                <a:spcPct val="115000"/>
              </a:lnSpc>
              <a:spcBef>
                <a:spcPts val="30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l">
              <a:lnSpc>
                <a:spcPct val="115000"/>
              </a:lnSpc>
              <a:spcBef>
                <a:spcPts val="30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create C[0..n−1][0..n−1]</a:t>
            </a:r>
            <a:endParaRPr>
              <a:solidFill>
                <a:schemeClr val="lt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l">
              <a:lnSpc>
                <a:spcPct val="115000"/>
              </a:lnSpc>
              <a:spcBef>
                <a:spcPts val="30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l">
              <a:lnSpc>
                <a:spcPct val="115000"/>
              </a:lnSpc>
              <a:spcBef>
                <a:spcPts val="30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for i ← 0 to n−1 do</a:t>
            </a:r>
            <a:endParaRPr>
              <a:solidFill>
                <a:schemeClr val="lt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l">
              <a:lnSpc>
                <a:spcPct val="115000"/>
              </a:lnSpc>
              <a:spcBef>
                <a:spcPts val="30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    for j ← 0 to n−1 do</a:t>
            </a:r>
            <a:endParaRPr>
              <a:solidFill>
                <a:schemeClr val="lt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l">
              <a:lnSpc>
                <a:spcPct val="115000"/>
              </a:lnSpc>
              <a:spcBef>
                <a:spcPts val="30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        C[i][j] ← 0</a:t>
            </a:r>
            <a:endParaRPr>
              <a:solidFill>
                <a:schemeClr val="lt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l">
              <a:lnSpc>
                <a:spcPct val="115000"/>
              </a:lnSpc>
              <a:spcBef>
                <a:spcPts val="30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        for k ← 0 to n−1 do</a:t>
            </a:r>
            <a:endParaRPr>
              <a:solidFill>
                <a:schemeClr val="lt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l">
              <a:lnSpc>
                <a:spcPct val="115000"/>
              </a:lnSpc>
              <a:spcBef>
                <a:spcPts val="30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            C[i][j] ← C[i][j] + A[i][k] × B[k][j]</a:t>
            </a:r>
            <a:endParaRPr>
              <a:solidFill>
                <a:schemeClr val="lt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l">
              <a:lnSpc>
                <a:spcPct val="115000"/>
              </a:lnSpc>
              <a:spcBef>
                <a:spcPts val="30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l">
              <a:lnSpc>
                <a:spcPct val="115000"/>
              </a:lnSpc>
              <a:spcBef>
                <a:spcPts val="300"/>
              </a:spcBef>
              <a:spcAft>
                <a:spcPts val="100"/>
              </a:spcAft>
              <a:buNone/>
            </a:pPr>
            <a:r>
              <a:rPr lang="en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return C</a:t>
            </a:r>
            <a:endParaRPr>
              <a:solidFill>
                <a:schemeClr val="lt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85" name="Google Shape;185;p19"/>
          <p:cNvSpPr txBox="1"/>
          <p:nvPr/>
        </p:nvSpPr>
        <p:spPr>
          <a:xfrm>
            <a:off x="5444850" y="1513600"/>
            <a:ext cx="3699000" cy="2724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323850" lvl="0" marL="45720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Font typeface="Montserrat"/>
              <a:buChar char="-"/>
            </a:pPr>
            <a:r>
              <a:rPr lang="en" sz="15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Iterates through every row of A and every column of B</a:t>
            </a:r>
            <a:endParaRPr sz="1500">
              <a:solidFill>
                <a:schemeClr val="lt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500">
              <a:solidFill>
                <a:schemeClr val="lt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323850" lvl="0" marL="45720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Font typeface="Montserrat"/>
              <a:buChar char="-"/>
            </a:pPr>
            <a:r>
              <a:rPr lang="en" sz="15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Computes each entry of C using dot products</a:t>
            </a:r>
            <a:br>
              <a:rPr lang="en" sz="15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</a:br>
            <a:endParaRPr sz="1500">
              <a:solidFill>
                <a:schemeClr val="lt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323850" lvl="0" marL="45720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Font typeface="Montserrat"/>
              <a:buChar char="-"/>
            </a:pPr>
            <a:r>
              <a:rPr lang="en" sz="15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Uses three nested loops → Θ(n³) arithmetic operations</a:t>
            </a:r>
            <a:br>
              <a:rPr lang="en" sz="15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</a:br>
            <a:endParaRPr sz="1500">
              <a:solidFill>
                <a:schemeClr val="lt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323850" lvl="0" marL="45720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Font typeface="Montserrat"/>
              <a:buChar char="-"/>
            </a:pPr>
            <a:r>
              <a:rPr lang="en" sz="15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Requires only output matrix space → Θ(n²) memory</a:t>
            </a:r>
            <a:endParaRPr sz="1500">
              <a:solidFill>
                <a:schemeClr val="lt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9" name="Shape 1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0" name="Google Shape;190;p20"/>
          <p:cNvSpPr txBox="1"/>
          <p:nvPr>
            <p:ph type="title"/>
          </p:nvPr>
        </p:nvSpPr>
        <p:spPr>
          <a:xfrm>
            <a:off x="1297500" y="393750"/>
            <a:ext cx="7038900" cy="914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Standard Algorithm Empirical Analysis</a:t>
            </a:r>
            <a:endParaRPr/>
          </a:p>
        </p:txBody>
      </p:sp>
      <p:sp>
        <p:nvSpPr>
          <p:cNvPr id="191" name="Google Shape;191;p20"/>
          <p:cNvSpPr txBox="1"/>
          <p:nvPr>
            <p:ph idx="1" type="body"/>
          </p:nvPr>
        </p:nvSpPr>
        <p:spPr>
          <a:xfrm>
            <a:off x="426275" y="1567550"/>
            <a:ext cx="8123100" cy="291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36550" lvl="0" marL="457200" rtl="0" algn="l">
              <a:spcBef>
                <a:spcPts val="0"/>
              </a:spcBef>
              <a:spcAft>
                <a:spcPts val="0"/>
              </a:spcAft>
              <a:buSzPts val="1700"/>
              <a:buChar char="●"/>
            </a:pPr>
            <a:r>
              <a:rPr lang="en" sz="1700"/>
              <a:t>Standard Algorithm has 3 for loops:</a:t>
            </a:r>
            <a:endParaRPr sz="1700"/>
          </a:p>
          <a:p>
            <a:pPr indent="-323850" lvl="1" marL="914400" rtl="0" algn="l">
              <a:spcBef>
                <a:spcPts val="0"/>
              </a:spcBef>
              <a:spcAft>
                <a:spcPts val="0"/>
              </a:spcAft>
              <a:buSzPts val="1500"/>
              <a:buChar char="○"/>
            </a:pPr>
            <a:r>
              <a:rPr lang="en" sz="1500"/>
              <a:t>For i = 0 to n-1</a:t>
            </a:r>
            <a:endParaRPr sz="1500"/>
          </a:p>
          <a:p>
            <a:pPr indent="-323850" lvl="1" marL="914400" rtl="0" algn="l">
              <a:spcBef>
                <a:spcPts val="0"/>
              </a:spcBef>
              <a:spcAft>
                <a:spcPts val="0"/>
              </a:spcAft>
              <a:buSzPts val="1500"/>
              <a:buChar char="○"/>
            </a:pPr>
            <a:r>
              <a:rPr lang="en" sz="1500"/>
              <a:t>For j = 0 to n-1</a:t>
            </a:r>
            <a:endParaRPr sz="1500"/>
          </a:p>
          <a:p>
            <a:pPr indent="-323850" lvl="1" marL="914400" rtl="0" algn="l">
              <a:spcBef>
                <a:spcPts val="0"/>
              </a:spcBef>
              <a:spcAft>
                <a:spcPts val="0"/>
              </a:spcAft>
              <a:buSzPts val="1500"/>
              <a:buChar char="○"/>
            </a:pPr>
            <a:r>
              <a:rPr lang="en" sz="1500"/>
              <a:t>For k = 0 to n-1</a:t>
            </a:r>
            <a:endParaRPr sz="1500"/>
          </a:p>
          <a:p>
            <a:pPr indent="-336550" lvl="0" marL="457200" rtl="0" algn="l">
              <a:spcBef>
                <a:spcPts val="0"/>
              </a:spcBef>
              <a:spcAft>
                <a:spcPts val="0"/>
              </a:spcAft>
              <a:buSzPts val="1700"/>
              <a:buChar char="●"/>
            </a:pPr>
            <a:r>
              <a:rPr lang="en" sz="1700"/>
              <a:t>Basic Operation is </a:t>
            </a:r>
            <a:r>
              <a:rPr lang="en" sz="1400">
                <a:latin typeface="Montserrat"/>
                <a:ea typeface="Montserrat"/>
                <a:cs typeface="Montserrat"/>
                <a:sym typeface="Montserrat"/>
              </a:rPr>
              <a:t> C[i][j] ← C[i][j] + A[i][k] × B[k][j], so multiplication</a:t>
            </a:r>
            <a:endParaRPr sz="1400">
              <a:latin typeface="Montserrat"/>
              <a:ea typeface="Montserrat"/>
              <a:cs typeface="Montserrat"/>
              <a:sym typeface="Montserrat"/>
            </a:endParaRPr>
          </a:p>
          <a:p>
            <a:pPr indent="-336550" lvl="0" marL="457200" rtl="0" algn="l">
              <a:spcBef>
                <a:spcPts val="0"/>
              </a:spcBef>
              <a:spcAft>
                <a:spcPts val="0"/>
              </a:spcAft>
              <a:buSzPts val="1700"/>
              <a:buChar char="●"/>
            </a:pPr>
            <a:r>
              <a:rPr lang="en" sz="1700"/>
              <a:t>Empirical Analysis:</a:t>
            </a:r>
            <a:endParaRPr sz="1700"/>
          </a:p>
          <a:p>
            <a:pPr indent="-336550" lvl="1" marL="914400" rtl="0" algn="l">
              <a:spcBef>
                <a:spcPts val="0"/>
              </a:spcBef>
              <a:spcAft>
                <a:spcPts val="0"/>
              </a:spcAft>
              <a:buSzPts val="1700"/>
              <a:buChar char="○"/>
            </a:pPr>
            <a:r>
              <a:rPr lang="en" sz="1700"/>
              <a:t>I = 0 ∑ n-1 ( j = 0 ∑ n-1 ( k = 0 ∑ n-1 (1))) = n^3</a:t>
            </a:r>
            <a:endParaRPr sz="1700"/>
          </a:p>
          <a:p>
            <a:pPr indent="-336550" lvl="0" marL="457200" rtl="0" algn="l">
              <a:spcBef>
                <a:spcPts val="0"/>
              </a:spcBef>
              <a:spcAft>
                <a:spcPts val="0"/>
              </a:spcAft>
              <a:buSzPts val="1700"/>
              <a:buChar char="●"/>
            </a:pPr>
            <a:r>
              <a:rPr lang="en" sz="1700"/>
              <a:t>The standard algorithm for matrix multiplication has a time complexity of Θ(n^3).</a:t>
            </a:r>
            <a:endParaRPr sz="170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5" name="Shape 1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6" name="Google Shape;196;p21"/>
          <p:cNvSpPr txBox="1"/>
          <p:nvPr>
            <p:ph type="title"/>
          </p:nvPr>
        </p:nvSpPr>
        <p:spPr>
          <a:xfrm>
            <a:off x="1297500" y="393750"/>
            <a:ext cx="7038900" cy="914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Strassen Matrix Multiplication</a:t>
            </a:r>
            <a:endParaRPr/>
          </a:p>
        </p:txBody>
      </p:sp>
      <p:sp>
        <p:nvSpPr>
          <p:cNvPr id="197" name="Google Shape;197;p21"/>
          <p:cNvSpPr txBox="1"/>
          <p:nvPr/>
        </p:nvSpPr>
        <p:spPr>
          <a:xfrm>
            <a:off x="4307500" y="2317875"/>
            <a:ext cx="4575000" cy="2805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3238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Font typeface="Lato"/>
              <a:buChar char="-"/>
            </a:pPr>
            <a:r>
              <a:rPr lang="en" sz="15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rPr>
              <a:t>D</a:t>
            </a:r>
            <a:r>
              <a:rPr lang="en" sz="15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rPr>
              <a:t>ivide the matrix into four submatrices.</a:t>
            </a:r>
            <a:endParaRPr sz="1500">
              <a:solidFill>
                <a:schemeClr val="lt1"/>
              </a:solidFill>
              <a:latin typeface="Lato"/>
              <a:ea typeface="Lato"/>
              <a:cs typeface="Lato"/>
              <a:sym typeface="Lato"/>
            </a:endParaRPr>
          </a:p>
          <a:p>
            <a:pPr indent="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rPr>
              <a:t> </a:t>
            </a:r>
            <a:endParaRPr sz="1500">
              <a:solidFill>
                <a:schemeClr val="lt1"/>
              </a:solidFill>
              <a:latin typeface="Lato"/>
              <a:ea typeface="Lato"/>
              <a:cs typeface="Lato"/>
              <a:sym typeface="Lato"/>
            </a:endParaRPr>
          </a:p>
          <a:p>
            <a:pPr indent="-3238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Font typeface="Lato"/>
              <a:buChar char="-"/>
            </a:pPr>
            <a:r>
              <a:rPr lang="en" sz="15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rPr>
              <a:t>Plug the subtricies into the given equations then combine them to get the final product. </a:t>
            </a:r>
            <a:endParaRPr sz="1500">
              <a:solidFill>
                <a:schemeClr val="lt1"/>
              </a:solidFill>
              <a:latin typeface="Lato"/>
              <a:ea typeface="Lato"/>
              <a:cs typeface="Lato"/>
              <a:sym typeface="Lato"/>
            </a:endParaRPr>
          </a:p>
          <a:p>
            <a:pPr indent="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500">
              <a:solidFill>
                <a:schemeClr val="lt1"/>
              </a:solidFill>
              <a:latin typeface="Lato"/>
              <a:ea typeface="Lato"/>
              <a:cs typeface="Lato"/>
              <a:sym typeface="Lato"/>
            </a:endParaRPr>
          </a:p>
          <a:p>
            <a:pPr indent="-3238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Font typeface="Lato"/>
              <a:buChar char="-"/>
            </a:pPr>
            <a:r>
              <a:rPr lang="en" sz="15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rPr>
              <a:t>Strassen’s Matrix Multiplication traditionally can only work with same sized square matrices.</a:t>
            </a:r>
            <a:endParaRPr sz="1500">
              <a:solidFill>
                <a:schemeClr val="lt1"/>
              </a:solidFill>
              <a:latin typeface="Lato"/>
              <a:ea typeface="Lato"/>
              <a:cs typeface="Lato"/>
              <a:sym typeface="Lato"/>
            </a:endParaRPr>
          </a:p>
          <a:p>
            <a:pPr indent="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rPr>
              <a:t> </a:t>
            </a:r>
            <a:endParaRPr sz="1500">
              <a:solidFill>
                <a:schemeClr val="lt1"/>
              </a:solidFill>
              <a:latin typeface="Lato"/>
              <a:ea typeface="Lato"/>
              <a:cs typeface="Lato"/>
              <a:sym typeface="Lato"/>
            </a:endParaRPr>
          </a:p>
          <a:p>
            <a:pPr indent="-3238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Font typeface="Lato"/>
              <a:buChar char="-"/>
            </a:pPr>
            <a:r>
              <a:rPr lang="en" sz="15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rPr>
              <a:t>Irregular matrices can be padded with zeros to be formatted into same sized square matrices.</a:t>
            </a:r>
            <a:endParaRPr sz="1500">
              <a:solidFill>
                <a:schemeClr val="lt1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198" name="Google Shape;198;p21"/>
          <p:cNvSpPr txBox="1"/>
          <p:nvPr/>
        </p:nvSpPr>
        <p:spPr>
          <a:xfrm>
            <a:off x="473625" y="3812375"/>
            <a:ext cx="3019500" cy="415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500">
              <a:solidFill>
                <a:schemeClr val="lt1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199" name="Google Shape;199;p21"/>
          <p:cNvSpPr txBox="1"/>
          <p:nvPr>
            <p:ph idx="1" type="body"/>
          </p:nvPr>
        </p:nvSpPr>
        <p:spPr>
          <a:xfrm>
            <a:off x="127450" y="2317875"/>
            <a:ext cx="3748500" cy="291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lnSpcReduction="10000"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/>
              <a:t>M1 = (A11 + A22) * (B11 + B22)</a:t>
            </a:r>
            <a:endParaRPr sz="1500"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/>
              <a:t>M2 = (A21 + A22) * B11</a:t>
            </a:r>
            <a:endParaRPr sz="1500"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/>
              <a:t>M3 = A11 * (B12 - B22)</a:t>
            </a:r>
            <a:endParaRPr sz="1500"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/>
              <a:t>M4 = A22 * (B21 - B11)</a:t>
            </a:r>
            <a:endParaRPr sz="1500"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/>
              <a:t>M5 = (A11 + A12) * B22</a:t>
            </a:r>
            <a:endParaRPr sz="1500"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/>
              <a:t>M6 = (A21 - A11) * (B11 + B12)</a:t>
            </a:r>
            <a:endParaRPr sz="1500"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/>
              <a:t>M7 = (A12 - A22) * (B21 + B22)</a:t>
            </a:r>
            <a:endParaRPr sz="1500"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500"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/>
              <a:t>C11 = M1 + M4 - M5 + M7</a:t>
            </a:r>
            <a:endParaRPr sz="1500"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/>
              <a:t>C12 = M3 + M5</a:t>
            </a:r>
            <a:endParaRPr sz="1500"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/>
              <a:t>C21 = M2 + M4 </a:t>
            </a:r>
            <a:endParaRPr sz="1500"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/>
              <a:t>C22 = M1 - M2 + M3 + M6 </a:t>
            </a:r>
            <a:endParaRPr sz="1500"/>
          </a:p>
        </p:txBody>
      </p:sp>
      <p:graphicFrame>
        <p:nvGraphicFramePr>
          <p:cNvPr id="200" name="Google Shape;200;p21"/>
          <p:cNvGraphicFramePr/>
          <p:nvPr/>
        </p:nvGraphicFramePr>
        <p:xfrm>
          <a:off x="986400" y="119772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{A53319A4-BB05-4323-826D-80545E43B7DE}</a:tableStyleId>
              </a:tblPr>
              <a:tblGrid>
                <a:gridCol w="696150"/>
                <a:gridCol w="696150"/>
              </a:tblGrid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Lato"/>
                          <a:ea typeface="Lato"/>
                          <a:cs typeface="Lato"/>
                          <a:sym typeface="Lato"/>
                        </a:rPr>
                        <a:t>A11</a:t>
                      </a:r>
                      <a:endParaRPr>
                        <a:latin typeface="Lato"/>
                        <a:ea typeface="Lato"/>
                        <a:cs typeface="Lato"/>
                        <a:sym typeface="Lato"/>
                      </a:endParaRPr>
                    </a:p>
                  </a:txBody>
                  <a:tcPr marT="91425" marB="91425" marR="91425" marL="91425">
                    <a:solidFill>
                      <a:srgbClr val="CCCCC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Lato"/>
                          <a:ea typeface="Lato"/>
                          <a:cs typeface="Lato"/>
                          <a:sym typeface="Lato"/>
                        </a:rPr>
                        <a:t>A12</a:t>
                      </a:r>
                      <a:endParaRPr>
                        <a:latin typeface="Lato"/>
                        <a:ea typeface="Lato"/>
                        <a:cs typeface="Lato"/>
                        <a:sym typeface="Lato"/>
                      </a:endParaRPr>
                    </a:p>
                  </a:txBody>
                  <a:tcPr marT="91425" marB="91425" marR="91425" marL="91425">
                    <a:solidFill>
                      <a:srgbClr val="CCCCCC"/>
                    </a:solidFill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Lato"/>
                          <a:ea typeface="Lato"/>
                          <a:cs typeface="Lato"/>
                          <a:sym typeface="Lato"/>
                        </a:rPr>
                        <a:t>A21</a:t>
                      </a:r>
                      <a:endParaRPr>
                        <a:latin typeface="Lato"/>
                        <a:ea typeface="Lato"/>
                        <a:cs typeface="Lato"/>
                        <a:sym typeface="Lato"/>
                      </a:endParaRPr>
                    </a:p>
                  </a:txBody>
                  <a:tcPr marT="91425" marB="91425" marR="91425" marL="91425">
                    <a:solidFill>
                      <a:srgbClr val="CCCCC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Lato"/>
                          <a:ea typeface="Lato"/>
                          <a:cs typeface="Lato"/>
                          <a:sym typeface="Lato"/>
                        </a:rPr>
                        <a:t>A22</a:t>
                      </a:r>
                      <a:endParaRPr>
                        <a:latin typeface="Lato"/>
                        <a:ea typeface="Lato"/>
                        <a:cs typeface="Lato"/>
                        <a:sym typeface="Lato"/>
                      </a:endParaRPr>
                    </a:p>
                  </a:txBody>
                  <a:tcPr marT="91425" marB="91425" marR="91425" marL="91425">
                    <a:solidFill>
                      <a:srgbClr val="CCCCCC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201" name="Google Shape;201;p21"/>
          <p:cNvGraphicFramePr/>
          <p:nvPr/>
        </p:nvGraphicFramePr>
        <p:xfrm>
          <a:off x="2841150" y="119772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{A53319A4-BB05-4323-826D-80545E43B7DE}</a:tableStyleId>
              </a:tblPr>
              <a:tblGrid>
                <a:gridCol w="696150"/>
                <a:gridCol w="696150"/>
              </a:tblGrid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Lato"/>
                          <a:ea typeface="Lato"/>
                          <a:cs typeface="Lato"/>
                          <a:sym typeface="Lato"/>
                        </a:rPr>
                        <a:t>B11</a:t>
                      </a:r>
                      <a:endParaRPr>
                        <a:latin typeface="Lato"/>
                        <a:ea typeface="Lato"/>
                        <a:cs typeface="Lato"/>
                        <a:sym typeface="Lato"/>
                      </a:endParaRPr>
                    </a:p>
                  </a:txBody>
                  <a:tcPr marT="91425" marB="91425" marR="91425" marL="91425">
                    <a:solidFill>
                      <a:srgbClr val="CCCCC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Lato"/>
                          <a:ea typeface="Lato"/>
                          <a:cs typeface="Lato"/>
                          <a:sym typeface="Lato"/>
                        </a:rPr>
                        <a:t>B12</a:t>
                      </a:r>
                      <a:endParaRPr>
                        <a:latin typeface="Lato"/>
                        <a:ea typeface="Lato"/>
                        <a:cs typeface="Lato"/>
                        <a:sym typeface="Lato"/>
                      </a:endParaRPr>
                    </a:p>
                  </a:txBody>
                  <a:tcPr marT="91425" marB="91425" marR="91425" marL="91425">
                    <a:solidFill>
                      <a:srgbClr val="CCCCCC"/>
                    </a:solidFill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Lato"/>
                          <a:ea typeface="Lato"/>
                          <a:cs typeface="Lato"/>
                          <a:sym typeface="Lato"/>
                        </a:rPr>
                        <a:t>B21</a:t>
                      </a:r>
                      <a:endParaRPr>
                        <a:latin typeface="Lato"/>
                        <a:ea typeface="Lato"/>
                        <a:cs typeface="Lato"/>
                        <a:sym typeface="Lato"/>
                      </a:endParaRPr>
                    </a:p>
                  </a:txBody>
                  <a:tcPr marT="91425" marB="91425" marR="91425" marL="91425">
                    <a:solidFill>
                      <a:srgbClr val="CCCCC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Lato"/>
                          <a:ea typeface="Lato"/>
                          <a:cs typeface="Lato"/>
                          <a:sym typeface="Lato"/>
                        </a:rPr>
                        <a:t>B22</a:t>
                      </a:r>
                      <a:endParaRPr>
                        <a:latin typeface="Lato"/>
                        <a:ea typeface="Lato"/>
                        <a:cs typeface="Lato"/>
                        <a:sym typeface="Lato"/>
                      </a:endParaRPr>
                    </a:p>
                  </a:txBody>
                  <a:tcPr marT="91425" marB="91425" marR="91425" marL="91425">
                    <a:solidFill>
                      <a:srgbClr val="CCCCCC"/>
                    </a:solidFill>
                  </a:tcPr>
                </a:tc>
              </a:tr>
            </a:tbl>
          </a:graphicData>
        </a:graphic>
      </p:graphicFrame>
      <p:sp>
        <p:nvSpPr>
          <p:cNvPr id="202" name="Google Shape;202;p21"/>
          <p:cNvSpPr txBox="1"/>
          <p:nvPr/>
        </p:nvSpPr>
        <p:spPr>
          <a:xfrm>
            <a:off x="2449625" y="978100"/>
            <a:ext cx="1016100" cy="738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36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rPr>
              <a:t>*</a:t>
            </a:r>
            <a:endParaRPr b="1" sz="3600">
              <a:solidFill>
                <a:schemeClr val="lt1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203" name="Google Shape;203;p21"/>
          <p:cNvSpPr txBox="1"/>
          <p:nvPr/>
        </p:nvSpPr>
        <p:spPr>
          <a:xfrm>
            <a:off x="4363075" y="1224475"/>
            <a:ext cx="1016100" cy="738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36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rPr>
              <a:t>=</a:t>
            </a:r>
            <a:endParaRPr b="1" sz="3600">
              <a:solidFill>
                <a:schemeClr val="lt1"/>
              </a:solidFill>
              <a:latin typeface="Lato"/>
              <a:ea typeface="Lato"/>
              <a:cs typeface="Lato"/>
              <a:sym typeface="Lato"/>
            </a:endParaRPr>
          </a:p>
        </p:txBody>
      </p:sp>
      <p:graphicFrame>
        <p:nvGraphicFramePr>
          <p:cNvPr id="204" name="Google Shape;204;p21"/>
          <p:cNvGraphicFramePr/>
          <p:nvPr/>
        </p:nvGraphicFramePr>
        <p:xfrm>
          <a:off x="4959350" y="119772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{A53319A4-BB05-4323-826D-80545E43B7DE}</a:tableStyleId>
              </a:tblPr>
              <a:tblGrid>
                <a:gridCol w="696150"/>
                <a:gridCol w="696150"/>
              </a:tblGrid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Lato"/>
                          <a:ea typeface="Lato"/>
                          <a:cs typeface="Lato"/>
                          <a:sym typeface="Lato"/>
                        </a:rPr>
                        <a:t>C11</a:t>
                      </a:r>
                      <a:endParaRPr>
                        <a:latin typeface="Lato"/>
                        <a:ea typeface="Lato"/>
                        <a:cs typeface="Lato"/>
                        <a:sym typeface="Lato"/>
                      </a:endParaRPr>
                    </a:p>
                  </a:txBody>
                  <a:tcPr marT="91425" marB="91425" marR="91425" marL="91425">
                    <a:solidFill>
                      <a:srgbClr val="CCCCC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Lato"/>
                          <a:ea typeface="Lato"/>
                          <a:cs typeface="Lato"/>
                          <a:sym typeface="Lato"/>
                        </a:rPr>
                        <a:t>C12</a:t>
                      </a:r>
                      <a:endParaRPr>
                        <a:latin typeface="Lato"/>
                        <a:ea typeface="Lato"/>
                        <a:cs typeface="Lato"/>
                        <a:sym typeface="Lato"/>
                      </a:endParaRPr>
                    </a:p>
                  </a:txBody>
                  <a:tcPr marT="91425" marB="91425" marR="91425" marL="91425">
                    <a:solidFill>
                      <a:srgbClr val="CCCCCC"/>
                    </a:solidFill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Lato"/>
                          <a:ea typeface="Lato"/>
                          <a:cs typeface="Lato"/>
                          <a:sym typeface="Lato"/>
                        </a:rPr>
                        <a:t>C21</a:t>
                      </a:r>
                      <a:endParaRPr>
                        <a:latin typeface="Lato"/>
                        <a:ea typeface="Lato"/>
                        <a:cs typeface="Lato"/>
                        <a:sym typeface="Lato"/>
                      </a:endParaRPr>
                    </a:p>
                  </a:txBody>
                  <a:tcPr marT="91425" marB="91425" marR="91425" marL="91425">
                    <a:solidFill>
                      <a:srgbClr val="CCCCC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Lato"/>
                          <a:ea typeface="Lato"/>
                          <a:cs typeface="Lato"/>
                          <a:sym typeface="Lato"/>
                        </a:rPr>
                        <a:t>C22</a:t>
                      </a:r>
                      <a:endParaRPr>
                        <a:latin typeface="Lato"/>
                        <a:ea typeface="Lato"/>
                        <a:cs typeface="Lato"/>
                        <a:sym typeface="Lato"/>
                      </a:endParaRPr>
                    </a:p>
                  </a:txBody>
                  <a:tcPr marT="91425" marB="91425" marR="91425" marL="91425">
                    <a:solidFill>
                      <a:srgbClr val="CCCCCC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dk1"/>
        </a:solidFill>
      </p:bgPr>
    </p:bg>
    <p:spTree>
      <p:nvGrpSpPr>
        <p:cNvPr id="208" name="Shape 2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9" name="Google Shape;209;p22"/>
          <p:cNvSpPr txBox="1"/>
          <p:nvPr>
            <p:ph idx="4294967295" type="title"/>
          </p:nvPr>
        </p:nvSpPr>
        <p:spPr>
          <a:xfrm>
            <a:off x="916500" y="0"/>
            <a:ext cx="7038900" cy="914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Strassen Algorithm Code</a:t>
            </a:r>
            <a:endParaRPr/>
          </a:p>
        </p:txBody>
      </p:sp>
      <p:sp>
        <p:nvSpPr>
          <p:cNvPr id="210" name="Google Shape;210;p22"/>
          <p:cNvSpPr txBox="1"/>
          <p:nvPr/>
        </p:nvSpPr>
        <p:spPr>
          <a:xfrm>
            <a:off x="1052550" y="1307850"/>
            <a:ext cx="70389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300"/>
              </a:spcBef>
              <a:spcAft>
                <a:spcPts val="100"/>
              </a:spcAft>
              <a:buNone/>
            </a:pPr>
            <a:r>
              <a:t/>
            </a:r>
            <a:endParaRPr sz="800">
              <a:solidFill>
                <a:schemeClr val="lt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211" name="Google Shape;211;p22"/>
          <p:cNvSpPr txBox="1"/>
          <p:nvPr/>
        </p:nvSpPr>
        <p:spPr>
          <a:xfrm>
            <a:off x="-9" y="502501"/>
            <a:ext cx="7038900" cy="5017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300"/>
              </a:spcBef>
              <a:spcAft>
                <a:spcPts val="0"/>
              </a:spcAft>
              <a:buNone/>
            </a:pPr>
            <a:r>
              <a:rPr lang="en" sz="11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ALGORITHM Strassen(A[0..n−1][0..n−1], B[0..n−1][0..n−1])</a:t>
            </a:r>
            <a:endParaRPr sz="1100">
              <a:solidFill>
                <a:schemeClr val="lt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l">
              <a:lnSpc>
                <a:spcPct val="115000"/>
              </a:lnSpc>
              <a:spcBef>
                <a:spcPts val="300"/>
              </a:spcBef>
              <a:spcAft>
                <a:spcPts val="0"/>
              </a:spcAft>
              <a:buNone/>
            </a:pPr>
            <a:r>
              <a:rPr lang="en" sz="11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// Computes the matrix product of A and B using Strassen’s method</a:t>
            </a:r>
            <a:endParaRPr sz="1100">
              <a:solidFill>
                <a:schemeClr val="lt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l">
              <a:lnSpc>
                <a:spcPct val="115000"/>
              </a:lnSpc>
              <a:spcBef>
                <a:spcPts val="300"/>
              </a:spcBef>
              <a:spcAft>
                <a:spcPts val="0"/>
              </a:spcAft>
              <a:buNone/>
            </a:pPr>
            <a:r>
              <a:rPr lang="en" sz="11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// Input:  Two n × n matrices A and B</a:t>
            </a:r>
            <a:endParaRPr sz="1100">
              <a:solidFill>
                <a:schemeClr val="lt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l">
              <a:lnSpc>
                <a:spcPct val="115000"/>
              </a:lnSpc>
              <a:spcBef>
                <a:spcPts val="300"/>
              </a:spcBef>
              <a:spcAft>
                <a:spcPts val="0"/>
              </a:spcAft>
              <a:buNone/>
            </a:pPr>
            <a:r>
              <a:rPr lang="en" sz="11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// Output: Matrix C = A × B</a:t>
            </a:r>
            <a:endParaRPr sz="1100">
              <a:solidFill>
                <a:schemeClr val="lt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l">
              <a:lnSpc>
                <a:spcPct val="115000"/>
              </a:lnSpc>
              <a:spcBef>
                <a:spcPts val="300"/>
              </a:spcBef>
              <a:spcAft>
                <a:spcPts val="0"/>
              </a:spcAft>
              <a:buNone/>
            </a:pPr>
            <a:r>
              <a:t/>
            </a:r>
            <a:endParaRPr sz="1100">
              <a:solidFill>
                <a:schemeClr val="lt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l">
              <a:lnSpc>
                <a:spcPct val="115000"/>
              </a:lnSpc>
              <a:spcBef>
                <a:spcPts val="300"/>
              </a:spcBef>
              <a:spcAft>
                <a:spcPts val="0"/>
              </a:spcAft>
              <a:buNone/>
            </a:pPr>
            <a:r>
              <a:rPr lang="en" sz="11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if n = 1</a:t>
            </a:r>
            <a:endParaRPr sz="1100">
              <a:solidFill>
                <a:schemeClr val="lt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l">
              <a:lnSpc>
                <a:spcPct val="115000"/>
              </a:lnSpc>
              <a:spcBef>
                <a:spcPts val="300"/>
              </a:spcBef>
              <a:spcAft>
                <a:spcPts val="0"/>
              </a:spcAft>
              <a:buNone/>
            </a:pPr>
            <a:r>
              <a:rPr lang="en" sz="11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    return [A[0][0] × B[0][0]]</a:t>
            </a:r>
            <a:endParaRPr sz="1100">
              <a:solidFill>
                <a:schemeClr val="lt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l">
              <a:lnSpc>
                <a:spcPct val="115000"/>
              </a:lnSpc>
              <a:spcBef>
                <a:spcPts val="300"/>
              </a:spcBef>
              <a:spcAft>
                <a:spcPts val="0"/>
              </a:spcAft>
              <a:buNone/>
            </a:pPr>
            <a:r>
              <a:t/>
            </a:r>
            <a:endParaRPr sz="1100">
              <a:solidFill>
                <a:schemeClr val="lt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l">
              <a:lnSpc>
                <a:spcPct val="115000"/>
              </a:lnSpc>
              <a:spcBef>
                <a:spcPts val="300"/>
              </a:spcBef>
              <a:spcAft>
                <a:spcPts val="0"/>
              </a:spcAft>
              <a:buNone/>
            </a:pPr>
            <a:r>
              <a:rPr lang="en" sz="11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// Partition A into submatrices</a:t>
            </a:r>
            <a:endParaRPr sz="1100">
              <a:solidFill>
                <a:schemeClr val="lt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l">
              <a:lnSpc>
                <a:spcPct val="115000"/>
              </a:lnSpc>
              <a:spcBef>
                <a:spcPts val="300"/>
              </a:spcBef>
              <a:spcAft>
                <a:spcPts val="0"/>
              </a:spcAft>
              <a:buNone/>
            </a:pPr>
            <a:r>
              <a:rPr lang="en" sz="11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partition A into A00, A01, A10, A11</a:t>
            </a:r>
            <a:endParaRPr sz="1100">
              <a:solidFill>
                <a:schemeClr val="lt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l">
              <a:lnSpc>
                <a:spcPct val="115000"/>
              </a:lnSpc>
              <a:spcBef>
                <a:spcPts val="300"/>
              </a:spcBef>
              <a:spcAft>
                <a:spcPts val="0"/>
              </a:spcAft>
              <a:buNone/>
            </a:pPr>
            <a:r>
              <a:rPr lang="en" sz="11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partition B into B00, B01, B10, B11</a:t>
            </a:r>
            <a:endParaRPr sz="1100">
              <a:solidFill>
                <a:schemeClr val="lt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l">
              <a:lnSpc>
                <a:spcPct val="115000"/>
              </a:lnSpc>
              <a:spcBef>
                <a:spcPts val="300"/>
              </a:spcBef>
              <a:spcAft>
                <a:spcPts val="0"/>
              </a:spcAft>
              <a:buNone/>
            </a:pPr>
            <a:r>
              <a:t/>
            </a:r>
            <a:endParaRPr sz="1100">
              <a:solidFill>
                <a:schemeClr val="lt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l">
              <a:lnSpc>
                <a:spcPct val="115000"/>
              </a:lnSpc>
              <a:spcBef>
                <a:spcPts val="300"/>
              </a:spcBef>
              <a:spcAft>
                <a:spcPts val="0"/>
              </a:spcAft>
              <a:buNone/>
            </a:pPr>
            <a:r>
              <a:rPr lang="en" sz="11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// Compute the 7 Strassen products</a:t>
            </a:r>
            <a:endParaRPr sz="1100">
              <a:solidFill>
                <a:schemeClr val="lt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l">
              <a:lnSpc>
                <a:spcPct val="115000"/>
              </a:lnSpc>
              <a:spcBef>
                <a:spcPts val="300"/>
              </a:spcBef>
              <a:spcAft>
                <a:spcPts val="0"/>
              </a:spcAft>
              <a:buNone/>
            </a:pPr>
            <a:r>
              <a:rPr lang="en" sz="11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M1 ← Strassen(A00 + A11, B00 + B11)</a:t>
            </a:r>
            <a:endParaRPr sz="1100">
              <a:solidFill>
                <a:schemeClr val="lt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l">
              <a:lnSpc>
                <a:spcPct val="115000"/>
              </a:lnSpc>
              <a:spcBef>
                <a:spcPts val="300"/>
              </a:spcBef>
              <a:spcAft>
                <a:spcPts val="0"/>
              </a:spcAft>
              <a:buNone/>
            </a:pPr>
            <a:r>
              <a:rPr lang="en" sz="11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M2 ← Strassen(A10 + A11, B00)</a:t>
            </a:r>
            <a:endParaRPr sz="1100">
              <a:solidFill>
                <a:schemeClr val="lt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l">
              <a:lnSpc>
                <a:spcPct val="115000"/>
              </a:lnSpc>
              <a:spcBef>
                <a:spcPts val="300"/>
              </a:spcBef>
              <a:spcAft>
                <a:spcPts val="0"/>
              </a:spcAft>
              <a:buNone/>
            </a:pPr>
            <a:r>
              <a:rPr lang="en" sz="11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M3 ← Strassen(A00, B01 − B11)</a:t>
            </a:r>
            <a:endParaRPr sz="1100">
              <a:solidFill>
                <a:schemeClr val="lt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l">
              <a:lnSpc>
                <a:spcPct val="115000"/>
              </a:lnSpc>
              <a:spcBef>
                <a:spcPts val="300"/>
              </a:spcBef>
              <a:spcAft>
                <a:spcPts val="0"/>
              </a:spcAft>
              <a:buNone/>
            </a:pPr>
            <a:r>
              <a:rPr lang="en" sz="11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M4 ← Strassen(A11, B10 − B00)</a:t>
            </a:r>
            <a:endParaRPr sz="1100">
              <a:solidFill>
                <a:schemeClr val="lt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l">
              <a:lnSpc>
                <a:spcPct val="115000"/>
              </a:lnSpc>
              <a:spcBef>
                <a:spcPts val="300"/>
              </a:spcBef>
              <a:spcAft>
                <a:spcPts val="0"/>
              </a:spcAft>
              <a:buNone/>
            </a:pPr>
            <a:r>
              <a:rPr lang="en" sz="11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M5 ← Strassen(A00 + A01, B11)</a:t>
            </a:r>
            <a:endParaRPr sz="1100">
              <a:solidFill>
                <a:schemeClr val="lt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l">
              <a:lnSpc>
                <a:spcPct val="115000"/>
              </a:lnSpc>
              <a:spcBef>
                <a:spcPts val="300"/>
              </a:spcBef>
              <a:spcAft>
                <a:spcPts val="0"/>
              </a:spcAft>
              <a:buNone/>
            </a:pPr>
            <a:r>
              <a:rPr lang="en" sz="11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M6 ← Strassen(A10 − A00, B00 + B01)</a:t>
            </a:r>
            <a:endParaRPr sz="1100">
              <a:solidFill>
                <a:schemeClr val="lt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l">
              <a:lnSpc>
                <a:spcPct val="115000"/>
              </a:lnSpc>
              <a:spcBef>
                <a:spcPts val="300"/>
              </a:spcBef>
              <a:spcAft>
                <a:spcPts val="0"/>
              </a:spcAft>
              <a:buNone/>
            </a:pPr>
            <a:r>
              <a:rPr lang="en" sz="11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M7 ← Strassen(A01 − A11, B10 + B11)</a:t>
            </a:r>
            <a:endParaRPr sz="1100">
              <a:solidFill>
                <a:schemeClr val="lt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l">
              <a:lnSpc>
                <a:spcPct val="115000"/>
              </a:lnSpc>
              <a:spcBef>
                <a:spcPts val="300"/>
              </a:spcBef>
              <a:spcAft>
                <a:spcPts val="100"/>
              </a:spcAft>
              <a:buNone/>
            </a:pPr>
            <a:r>
              <a:t/>
            </a:r>
            <a:endParaRPr sz="1100">
              <a:solidFill>
                <a:schemeClr val="lt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212" name="Google Shape;212;p22"/>
          <p:cNvSpPr txBox="1"/>
          <p:nvPr/>
        </p:nvSpPr>
        <p:spPr>
          <a:xfrm>
            <a:off x="4892650" y="532836"/>
            <a:ext cx="4191300" cy="3119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300"/>
              </a:spcBef>
              <a:spcAft>
                <a:spcPts val="0"/>
              </a:spcAft>
              <a:buNone/>
            </a:pPr>
            <a:r>
              <a:t/>
            </a:r>
            <a:endParaRPr sz="1000">
              <a:solidFill>
                <a:schemeClr val="lt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l">
              <a:lnSpc>
                <a:spcPct val="115000"/>
              </a:lnSpc>
              <a:spcBef>
                <a:spcPts val="300"/>
              </a:spcBef>
              <a:spcAft>
                <a:spcPts val="0"/>
              </a:spcAft>
              <a:buNone/>
            </a:pPr>
            <a:r>
              <a:t/>
            </a:r>
            <a:endParaRPr sz="1100">
              <a:solidFill>
                <a:schemeClr val="lt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l">
              <a:lnSpc>
                <a:spcPct val="115000"/>
              </a:lnSpc>
              <a:spcBef>
                <a:spcPts val="300"/>
              </a:spcBef>
              <a:spcAft>
                <a:spcPts val="0"/>
              </a:spcAft>
              <a:buNone/>
            </a:pPr>
            <a:r>
              <a:rPr lang="en" sz="11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// Compute output quadrants</a:t>
            </a:r>
            <a:endParaRPr sz="1100">
              <a:solidFill>
                <a:schemeClr val="lt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l">
              <a:lnSpc>
                <a:spcPct val="115000"/>
              </a:lnSpc>
              <a:spcBef>
                <a:spcPts val="300"/>
              </a:spcBef>
              <a:spcAft>
                <a:spcPts val="0"/>
              </a:spcAft>
              <a:buNone/>
            </a:pPr>
            <a:r>
              <a:rPr lang="en" sz="11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C00 ← M1 + M4 − M5 + M7</a:t>
            </a:r>
            <a:endParaRPr sz="1100">
              <a:solidFill>
                <a:schemeClr val="lt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l">
              <a:lnSpc>
                <a:spcPct val="115000"/>
              </a:lnSpc>
              <a:spcBef>
                <a:spcPts val="300"/>
              </a:spcBef>
              <a:spcAft>
                <a:spcPts val="0"/>
              </a:spcAft>
              <a:buNone/>
            </a:pPr>
            <a:r>
              <a:rPr lang="en" sz="11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C01 ← M3 + M5</a:t>
            </a:r>
            <a:endParaRPr sz="1100">
              <a:solidFill>
                <a:schemeClr val="lt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l">
              <a:lnSpc>
                <a:spcPct val="115000"/>
              </a:lnSpc>
              <a:spcBef>
                <a:spcPts val="300"/>
              </a:spcBef>
              <a:spcAft>
                <a:spcPts val="0"/>
              </a:spcAft>
              <a:buNone/>
            </a:pPr>
            <a:r>
              <a:rPr lang="en" sz="11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C10 ← M2 + M4</a:t>
            </a:r>
            <a:endParaRPr sz="1100">
              <a:solidFill>
                <a:schemeClr val="lt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l">
              <a:lnSpc>
                <a:spcPct val="115000"/>
              </a:lnSpc>
              <a:spcBef>
                <a:spcPts val="300"/>
              </a:spcBef>
              <a:spcAft>
                <a:spcPts val="0"/>
              </a:spcAft>
              <a:buNone/>
            </a:pPr>
            <a:r>
              <a:rPr lang="en" sz="11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C11 ← M1 − M2 + M3 + M6</a:t>
            </a:r>
            <a:endParaRPr sz="1100">
              <a:solidFill>
                <a:schemeClr val="lt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l">
              <a:lnSpc>
                <a:spcPct val="115000"/>
              </a:lnSpc>
              <a:spcBef>
                <a:spcPts val="300"/>
              </a:spcBef>
              <a:spcAft>
                <a:spcPts val="0"/>
              </a:spcAft>
              <a:buNone/>
            </a:pPr>
            <a:r>
              <a:t/>
            </a:r>
            <a:endParaRPr sz="1100">
              <a:solidFill>
                <a:schemeClr val="lt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l">
              <a:lnSpc>
                <a:spcPct val="115000"/>
              </a:lnSpc>
              <a:spcBef>
                <a:spcPts val="300"/>
              </a:spcBef>
              <a:spcAft>
                <a:spcPts val="0"/>
              </a:spcAft>
              <a:buNone/>
            </a:pPr>
            <a:r>
              <a:rPr lang="en" sz="11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// Combine into full matrix C</a:t>
            </a:r>
            <a:endParaRPr sz="1100">
              <a:solidFill>
                <a:schemeClr val="lt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l">
              <a:lnSpc>
                <a:spcPct val="115000"/>
              </a:lnSpc>
              <a:spcBef>
                <a:spcPts val="300"/>
              </a:spcBef>
              <a:spcAft>
                <a:spcPts val="0"/>
              </a:spcAft>
              <a:buNone/>
            </a:pPr>
            <a:r>
              <a:rPr lang="en" sz="11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assemble C from C00, C01, C10, C11</a:t>
            </a:r>
            <a:endParaRPr sz="1100">
              <a:solidFill>
                <a:schemeClr val="lt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l">
              <a:lnSpc>
                <a:spcPct val="115000"/>
              </a:lnSpc>
              <a:spcBef>
                <a:spcPts val="300"/>
              </a:spcBef>
              <a:spcAft>
                <a:spcPts val="0"/>
              </a:spcAft>
              <a:buNone/>
            </a:pPr>
            <a:r>
              <a:t/>
            </a:r>
            <a:endParaRPr sz="1100">
              <a:solidFill>
                <a:schemeClr val="lt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l">
              <a:lnSpc>
                <a:spcPct val="115000"/>
              </a:lnSpc>
              <a:spcBef>
                <a:spcPts val="300"/>
              </a:spcBef>
              <a:spcAft>
                <a:spcPts val="0"/>
              </a:spcAft>
              <a:buNone/>
            </a:pPr>
            <a:r>
              <a:rPr lang="en" sz="11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return C</a:t>
            </a:r>
            <a:endParaRPr sz="1100">
              <a:solidFill>
                <a:schemeClr val="lt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l">
              <a:lnSpc>
                <a:spcPct val="115000"/>
              </a:lnSpc>
              <a:spcBef>
                <a:spcPts val="300"/>
              </a:spcBef>
              <a:spcAft>
                <a:spcPts val="100"/>
              </a:spcAft>
              <a:buNone/>
            </a:pPr>
            <a:r>
              <a:t/>
            </a:r>
            <a:endParaRPr sz="1000">
              <a:solidFill>
                <a:schemeClr val="lt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213" name="Google Shape;213;p22"/>
          <p:cNvSpPr txBox="1"/>
          <p:nvPr/>
        </p:nvSpPr>
        <p:spPr>
          <a:xfrm>
            <a:off x="3119600" y="3417900"/>
            <a:ext cx="6104700" cy="2002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304800" lvl="0" marL="45720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Montserrat"/>
              <a:buChar char="-"/>
            </a:pPr>
            <a:r>
              <a:rPr lang="en" sz="13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Uses divide-and-conquer: splits matrices into 4 equal blocks</a:t>
            </a:r>
            <a:br>
              <a:rPr lang="en" sz="13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</a:br>
            <a:endParaRPr sz="1300">
              <a:solidFill>
                <a:schemeClr val="lt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304800" lvl="0" marL="45720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Montserrat"/>
              <a:buChar char="-"/>
            </a:pPr>
            <a:r>
              <a:rPr lang="en" sz="13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Recursively multiplies smaller matrices</a:t>
            </a:r>
            <a:br>
              <a:rPr lang="en" sz="13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</a:br>
            <a:endParaRPr sz="1300">
              <a:solidFill>
                <a:schemeClr val="lt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304800" lvl="0" marL="45720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Montserrat"/>
              <a:buChar char="-"/>
            </a:pPr>
            <a:r>
              <a:rPr lang="en" sz="13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Reduces multiplications from </a:t>
            </a:r>
            <a:r>
              <a:rPr b="1" lang="en" sz="13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8 → 7</a:t>
            </a:r>
            <a:r>
              <a:rPr lang="en" sz="13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, saving time</a:t>
            </a:r>
            <a:endParaRPr sz="1300">
              <a:solidFill>
                <a:schemeClr val="lt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300">
              <a:solidFill>
                <a:schemeClr val="lt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31750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Montserrat"/>
              <a:buChar char="-"/>
            </a:pPr>
            <a:r>
              <a:rPr lang="en" sz="13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Uses more additions/subtractions to compensate</a:t>
            </a:r>
            <a:br>
              <a:rPr lang="en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</a:br>
            <a:endParaRPr>
              <a:solidFill>
                <a:schemeClr val="lt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7" name="Shape 2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8" name="Google Shape;218;p23"/>
          <p:cNvSpPr txBox="1"/>
          <p:nvPr>
            <p:ph type="title"/>
          </p:nvPr>
        </p:nvSpPr>
        <p:spPr>
          <a:xfrm>
            <a:off x="1297500" y="393750"/>
            <a:ext cx="7038900" cy="914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Strassen Algorithm Empirical Analysis</a:t>
            </a:r>
            <a:endParaRPr/>
          </a:p>
        </p:txBody>
      </p:sp>
      <p:sp>
        <p:nvSpPr>
          <p:cNvPr id="219" name="Google Shape;219;p23"/>
          <p:cNvSpPr txBox="1"/>
          <p:nvPr>
            <p:ph idx="1" type="body"/>
          </p:nvPr>
        </p:nvSpPr>
        <p:spPr>
          <a:xfrm>
            <a:off x="1221375" y="1307850"/>
            <a:ext cx="7038900" cy="291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34803" lvl="0" marL="457200" rt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1673"/>
              <a:buChar char="●"/>
            </a:pPr>
            <a:r>
              <a:rPr lang="en" sz="1672"/>
              <a:t>Since Strassen Algorithm is recursive, the recurrence relation can be written as T(n) = 7T(n/2) + O(n^2)</a:t>
            </a:r>
            <a:endParaRPr sz="1672"/>
          </a:p>
          <a:p>
            <a:pPr indent="0" lvl="0" marL="457200" rtl="0" algn="l">
              <a:lnSpc>
                <a:spcPct val="95000"/>
              </a:lnSpc>
              <a:spcBef>
                <a:spcPts val="1200"/>
              </a:spcBef>
              <a:spcAft>
                <a:spcPts val="0"/>
              </a:spcAft>
              <a:buSzPts val="852"/>
              <a:buNone/>
            </a:pPr>
            <a:r>
              <a:t/>
            </a:r>
            <a:endParaRPr sz="1672"/>
          </a:p>
          <a:p>
            <a:pPr indent="-334803" lvl="0" marL="457200" rtl="0" algn="l">
              <a:lnSpc>
                <a:spcPct val="95000"/>
              </a:lnSpc>
              <a:spcBef>
                <a:spcPts val="1200"/>
              </a:spcBef>
              <a:spcAft>
                <a:spcPts val="0"/>
              </a:spcAft>
              <a:buSzPts val="1673"/>
              <a:buChar char="●"/>
            </a:pPr>
            <a:r>
              <a:rPr lang="en" sz="1672"/>
              <a:t>A = 7,        B = 2,      d = 2</a:t>
            </a:r>
            <a:endParaRPr sz="1672"/>
          </a:p>
          <a:p>
            <a:pPr indent="0" lvl="0" marL="457200" rtl="0" algn="l">
              <a:lnSpc>
                <a:spcPct val="95000"/>
              </a:lnSpc>
              <a:spcBef>
                <a:spcPts val="1200"/>
              </a:spcBef>
              <a:spcAft>
                <a:spcPts val="0"/>
              </a:spcAft>
              <a:buSzPts val="852"/>
              <a:buNone/>
            </a:pPr>
            <a:r>
              <a:t/>
            </a:r>
            <a:endParaRPr sz="1672"/>
          </a:p>
          <a:p>
            <a:pPr indent="-334803" lvl="0" marL="457200" rtl="0" algn="l">
              <a:lnSpc>
                <a:spcPct val="95000"/>
              </a:lnSpc>
              <a:spcBef>
                <a:spcPts val="1200"/>
              </a:spcBef>
              <a:spcAft>
                <a:spcPts val="0"/>
              </a:spcAft>
              <a:buSzPts val="1673"/>
              <a:buChar char="●"/>
            </a:pPr>
            <a:r>
              <a:rPr lang="en" sz="1672"/>
              <a:t>Using the master theorem, 7 &gt; 2^2, so Θ(n^(logb(a)))</a:t>
            </a:r>
            <a:endParaRPr sz="1672"/>
          </a:p>
          <a:p>
            <a:pPr indent="0" lvl="0" marL="457200" rtl="0" algn="l">
              <a:lnSpc>
                <a:spcPct val="95000"/>
              </a:lnSpc>
              <a:spcBef>
                <a:spcPts val="1200"/>
              </a:spcBef>
              <a:spcAft>
                <a:spcPts val="0"/>
              </a:spcAft>
              <a:buSzPts val="852"/>
              <a:buNone/>
            </a:pPr>
            <a:r>
              <a:t/>
            </a:r>
            <a:endParaRPr sz="1672"/>
          </a:p>
          <a:p>
            <a:pPr indent="-334803" lvl="0" marL="457200" rtl="0" algn="l">
              <a:lnSpc>
                <a:spcPct val="95000"/>
              </a:lnSpc>
              <a:spcBef>
                <a:spcPts val="1200"/>
              </a:spcBef>
              <a:spcAft>
                <a:spcPts val="0"/>
              </a:spcAft>
              <a:buSzPts val="1673"/>
              <a:buChar char="●"/>
            </a:pPr>
            <a:r>
              <a:rPr lang="en" sz="1672"/>
              <a:t>Time Complexity: T(n) = Θ(n^(log2(7))), which is approximately Θ(n^2.807)</a:t>
            </a:r>
            <a:endParaRPr sz="1672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3" name="Shape 2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4" name="Google Shape;224;p24"/>
          <p:cNvSpPr txBox="1"/>
          <p:nvPr>
            <p:ph type="title"/>
          </p:nvPr>
        </p:nvSpPr>
        <p:spPr>
          <a:xfrm>
            <a:off x="1297500" y="393750"/>
            <a:ext cx="7038900" cy="914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Standard Algorithm vs. Strassen Algorithm</a:t>
            </a:r>
            <a:endParaRPr/>
          </a:p>
        </p:txBody>
      </p:sp>
      <p:sp>
        <p:nvSpPr>
          <p:cNvPr id="225" name="Google Shape;225;p24"/>
          <p:cNvSpPr txBox="1"/>
          <p:nvPr>
            <p:ph idx="1" type="body"/>
          </p:nvPr>
        </p:nvSpPr>
        <p:spPr>
          <a:xfrm>
            <a:off x="1297500" y="1116150"/>
            <a:ext cx="7038900" cy="291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45720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rPr lang="en" sz="1500"/>
              <a:t>The Standard Algorithm has O(n³) complexity because it uses three nested loops to compute each element. Strassen has O(n^2.807) complexity because it recursively divides matrices and uses only 7 multiplications instead of 8. However, this theoretical advantage doesn't mean Strassen is always more efficient in practice.</a:t>
            </a:r>
            <a:endParaRPr sz="1500"/>
          </a:p>
        </p:txBody>
      </p:sp>
      <p:sp>
        <p:nvSpPr>
          <p:cNvPr id="226" name="Google Shape;226;p24"/>
          <p:cNvSpPr txBox="1"/>
          <p:nvPr>
            <p:ph idx="1" type="body"/>
          </p:nvPr>
        </p:nvSpPr>
        <p:spPr>
          <a:xfrm>
            <a:off x="1297500" y="2764350"/>
            <a:ext cx="7038900" cy="291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23850" lvl="0" marL="457200" rtl="0" algn="l">
              <a:spcBef>
                <a:spcPts val="0"/>
              </a:spcBef>
              <a:spcAft>
                <a:spcPts val="0"/>
              </a:spcAft>
              <a:buSzPts val="1500"/>
              <a:buChar char="●"/>
            </a:pPr>
            <a:r>
              <a:rPr lang="en" sz="1500"/>
              <a:t>Significantly increased amounts of additions and subtractions make it so that it has a higher upfront cost that makes it less </a:t>
            </a:r>
            <a:r>
              <a:rPr lang="en" sz="1500"/>
              <a:t>efficient</a:t>
            </a:r>
            <a:r>
              <a:rPr lang="en" sz="1500"/>
              <a:t> for smaller algorithms</a:t>
            </a:r>
            <a:endParaRPr sz="1500"/>
          </a:p>
          <a:p>
            <a:pPr indent="-323850" lvl="0" marL="457200" rtl="0" algn="l">
              <a:spcBef>
                <a:spcPts val="0"/>
              </a:spcBef>
              <a:spcAft>
                <a:spcPts val="0"/>
              </a:spcAft>
              <a:buSzPts val="1500"/>
              <a:buChar char="●"/>
            </a:pPr>
            <a:r>
              <a:rPr lang="en" sz="1500"/>
              <a:t>When the matrices are not square or not powers of 2, the Strassen Algorithm can lose </a:t>
            </a:r>
            <a:r>
              <a:rPr lang="en" sz="1500"/>
              <a:t>efficiency</a:t>
            </a:r>
            <a:r>
              <a:rPr lang="en" sz="1500"/>
              <a:t> because it will need to pad out the matrices to make it usable. </a:t>
            </a:r>
            <a:endParaRPr sz="1500"/>
          </a:p>
          <a:p>
            <a:pPr indent="-323850" lvl="0" marL="457200" rtl="0" algn="l">
              <a:spcBef>
                <a:spcPts val="0"/>
              </a:spcBef>
              <a:spcAft>
                <a:spcPts val="0"/>
              </a:spcAft>
              <a:buSzPts val="1500"/>
              <a:buChar char="●"/>
            </a:pPr>
            <a:r>
              <a:rPr lang="en" sz="1500"/>
              <a:t>The increased number of additions and subtractions can cause numerical stability issues due to floating-point rounding errors</a:t>
            </a:r>
            <a:endParaRPr sz="150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30" name="Shape 2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1" name="Google Shape;231;p25"/>
          <p:cNvSpPr txBox="1"/>
          <p:nvPr>
            <p:ph type="title"/>
          </p:nvPr>
        </p:nvSpPr>
        <p:spPr>
          <a:xfrm>
            <a:off x="1297500" y="393750"/>
            <a:ext cx="7038900" cy="914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Video of Program:</a:t>
            </a:r>
            <a:endParaRPr/>
          </a:p>
        </p:txBody>
      </p:sp>
      <p:pic>
        <p:nvPicPr>
          <p:cNvPr id="232" name="Google Shape;232;p25" title="Matrix_multiplication.mp4">
            <a:hlinkClick r:id="rId3"/>
          </p:cNvPr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2272388" y="1114725"/>
            <a:ext cx="5089126" cy="38168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2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36" name="Shape 2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7" name="Google Shape;237;p26"/>
          <p:cNvSpPr txBox="1"/>
          <p:nvPr>
            <p:ph type="title"/>
          </p:nvPr>
        </p:nvSpPr>
        <p:spPr>
          <a:xfrm>
            <a:off x="1322925" y="73813"/>
            <a:ext cx="7038900" cy="914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Data we collected:</a:t>
            </a:r>
            <a:endParaRPr/>
          </a:p>
        </p:txBody>
      </p:sp>
      <p:graphicFrame>
        <p:nvGraphicFramePr>
          <p:cNvPr id="238" name="Google Shape;238;p26"/>
          <p:cNvGraphicFramePr/>
          <p:nvPr/>
        </p:nvGraphicFramePr>
        <p:xfrm>
          <a:off x="977925" y="987838"/>
          <a:ext cx="3000000" cy="3000000"/>
        </p:xfrm>
        <a:graphic>
          <a:graphicData uri="http://schemas.openxmlformats.org/drawingml/2006/table">
            <a:tbl>
              <a:tblPr>
                <a:noFill/>
                <a:tableStyleId>{A53319A4-BB05-4323-826D-80545E43B7DE}</a:tableStyleId>
              </a:tblPr>
              <a:tblGrid>
                <a:gridCol w="2413000"/>
                <a:gridCol w="2413000"/>
                <a:gridCol w="2413000"/>
              </a:tblGrid>
              <a:tr h="3999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lt1"/>
                          </a:solidFill>
                        </a:rPr>
                        <a:t>(1x1), (1x1)</a:t>
                      </a:r>
                      <a:endParaRPr>
                        <a:solidFill>
                          <a:schemeClr val="lt1"/>
                        </a:solidFill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lt1"/>
                          </a:solidFill>
                        </a:rPr>
                        <a:t>0.000007300011930055916</a:t>
                      </a:r>
                      <a:endParaRPr>
                        <a:solidFill>
                          <a:schemeClr val="lt1"/>
                        </a:solidFill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lt1"/>
                          </a:solidFill>
                        </a:rPr>
                        <a:t>0.000028299997211433947</a:t>
                      </a:r>
                      <a:endParaRPr>
                        <a:solidFill>
                          <a:schemeClr val="lt1"/>
                        </a:solidFill>
                      </a:endParaRPr>
                    </a:p>
                  </a:txBody>
                  <a:tcPr marT="91425" marB="91425" marR="91425" marL="91425"/>
                </a:tc>
              </a:tr>
              <a:tr h="3999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lt1"/>
                          </a:solidFill>
                        </a:rPr>
                        <a:t>(2x2), (2x2)</a:t>
                      </a:r>
                      <a:endParaRPr>
                        <a:solidFill>
                          <a:schemeClr val="lt1"/>
                        </a:solidFill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lt1"/>
                          </a:solidFill>
                        </a:rPr>
                        <a:t>0.00000960000033956021</a:t>
                      </a:r>
                      <a:endParaRPr>
                        <a:solidFill>
                          <a:schemeClr val="lt1"/>
                        </a:solidFill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lt1"/>
                          </a:solidFill>
                        </a:rPr>
                        <a:t>0.0000484000047435984</a:t>
                      </a:r>
                      <a:endParaRPr>
                        <a:solidFill>
                          <a:schemeClr val="lt1"/>
                        </a:solidFill>
                      </a:endParaRPr>
                    </a:p>
                  </a:txBody>
                  <a:tcPr marT="91425" marB="91425" marR="91425" marL="91425"/>
                </a:tc>
              </a:tr>
              <a:tr h="3999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lt1"/>
                          </a:solidFill>
                        </a:rPr>
                        <a:t>(5x5), (5x5)</a:t>
                      </a:r>
                      <a:endParaRPr>
                        <a:solidFill>
                          <a:schemeClr val="lt1"/>
                        </a:solidFill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lt1"/>
                          </a:solidFill>
                        </a:rPr>
                        <a:t>0.000021700005163438618</a:t>
                      </a:r>
                      <a:endParaRPr>
                        <a:solidFill>
                          <a:schemeClr val="lt1"/>
                        </a:solidFill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lt1"/>
                          </a:solidFill>
                        </a:rPr>
                        <a:t>0.000</a:t>
                      </a:r>
                      <a:r>
                        <a:rPr lang="en">
                          <a:solidFill>
                            <a:schemeClr val="lt1"/>
                          </a:solidFill>
                        </a:rPr>
                        <a:t>7651000050827861</a:t>
                      </a:r>
                      <a:endParaRPr>
                        <a:solidFill>
                          <a:schemeClr val="lt1"/>
                        </a:solidFill>
                      </a:endParaRPr>
                    </a:p>
                  </a:txBody>
                  <a:tcPr marT="91425" marB="91425" marR="91425" marL="91425"/>
                </a:tc>
              </a:tr>
              <a:tr h="38455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lt1"/>
                          </a:solidFill>
                        </a:rPr>
                        <a:t>(10x10), (10x10)</a:t>
                      </a:r>
                      <a:endParaRPr>
                        <a:solidFill>
                          <a:schemeClr val="lt1"/>
                        </a:solidFill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lt1"/>
                          </a:solidFill>
                        </a:rPr>
                        <a:t>0.00010410000686533749</a:t>
                      </a:r>
                      <a:endParaRPr>
                        <a:solidFill>
                          <a:schemeClr val="lt1"/>
                        </a:solidFill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lt1"/>
                          </a:solidFill>
                        </a:rPr>
                        <a:t>0.00</a:t>
                      </a:r>
                      <a:r>
                        <a:rPr lang="en">
                          <a:solidFill>
                            <a:schemeClr val="lt1"/>
                          </a:solidFill>
                        </a:rPr>
                        <a:t>5520899998373352</a:t>
                      </a:r>
                      <a:endParaRPr>
                        <a:solidFill>
                          <a:schemeClr val="lt1"/>
                        </a:solidFill>
                      </a:endParaRPr>
                    </a:p>
                  </a:txBody>
                  <a:tcPr marT="91425" marB="91425" marR="91425" marL="91425"/>
                </a:tc>
              </a:tr>
              <a:tr h="38455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lt1"/>
                          </a:solidFill>
                        </a:rPr>
                        <a:t>(50x50), (50x50)</a:t>
                      </a:r>
                      <a:endParaRPr>
                        <a:solidFill>
                          <a:schemeClr val="lt1"/>
                        </a:solidFill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lt1"/>
                          </a:solidFill>
                        </a:rPr>
                        <a:t>0.006858900000224821</a:t>
                      </a:r>
                      <a:endParaRPr>
                        <a:solidFill>
                          <a:schemeClr val="lt1"/>
                        </a:solidFill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lt1"/>
                          </a:solidFill>
                        </a:rPr>
                        <a:t>0.</a:t>
                      </a:r>
                      <a:r>
                        <a:rPr lang="en">
                          <a:solidFill>
                            <a:schemeClr val="lt1"/>
                          </a:solidFill>
                        </a:rPr>
                        <a:t>25825970000005327</a:t>
                      </a:r>
                      <a:endParaRPr>
                        <a:solidFill>
                          <a:schemeClr val="lt1"/>
                        </a:solidFill>
                      </a:endParaRPr>
                    </a:p>
                  </a:txBody>
                  <a:tcPr marT="91425" marB="91425" marR="91425" marL="91425"/>
                </a:tc>
              </a:tr>
              <a:tr h="38455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lt1"/>
                          </a:solidFill>
                        </a:rPr>
                        <a:t>(100x100), (100x100)</a:t>
                      </a:r>
                      <a:endParaRPr>
                        <a:solidFill>
                          <a:schemeClr val="lt1"/>
                        </a:solidFill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lt1"/>
                          </a:solidFill>
                        </a:rPr>
                        <a:t>0.05232400000386406</a:t>
                      </a:r>
                      <a:endParaRPr>
                        <a:solidFill>
                          <a:schemeClr val="lt1"/>
                        </a:solidFill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lt1"/>
                          </a:solidFill>
                        </a:rPr>
                        <a:t>1.8707439999998314</a:t>
                      </a:r>
                      <a:endParaRPr>
                        <a:solidFill>
                          <a:schemeClr val="lt1"/>
                        </a:solidFill>
                      </a:endParaRPr>
                    </a:p>
                  </a:txBody>
                  <a:tcPr marT="91425" marB="91425" marR="91425" marL="91425"/>
                </a:tc>
              </a:tr>
              <a:tr h="38455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lt1"/>
                          </a:solidFill>
                        </a:rPr>
                        <a:t>(200x200), (200x200)</a:t>
                      </a:r>
                      <a:endParaRPr>
                        <a:solidFill>
                          <a:schemeClr val="lt1"/>
                        </a:solidFill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lt1"/>
                          </a:solidFill>
                        </a:rPr>
                        <a:t>0.39524070000334177</a:t>
                      </a:r>
                      <a:endParaRPr>
                        <a:solidFill>
                          <a:schemeClr val="lt1"/>
                        </a:solidFill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lt1"/>
                          </a:solidFill>
                        </a:rPr>
                        <a:t>10</a:t>
                      </a:r>
                      <a:r>
                        <a:rPr lang="en">
                          <a:solidFill>
                            <a:schemeClr val="lt1"/>
                          </a:solidFill>
                        </a:rPr>
                        <a:t>.</a:t>
                      </a:r>
                      <a:r>
                        <a:rPr lang="en">
                          <a:solidFill>
                            <a:schemeClr val="lt1"/>
                          </a:solidFill>
                        </a:rPr>
                        <a:t>315698499995051</a:t>
                      </a:r>
                      <a:endParaRPr>
                        <a:solidFill>
                          <a:schemeClr val="lt1"/>
                        </a:solidFill>
                      </a:endParaRPr>
                    </a:p>
                  </a:txBody>
                  <a:tcPr marT="91425" marB="91425" marR="91425" marL="91425"/>
                </a:tc>
              </a:tr>
              <a:tr h="38455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lt1"/>
                          </a:solidFill>
                        </a:rPr>
                        <a:t>(500x500), (500x500)</a:t>
                      </a:r>
                      <a:endParaRPr>
                        <a:solidFill>
                          <a:schemeClr val="lt1"/>
                        </a:solidFill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lt1"/>
                          </a:solidFill>
                        </a:rPr>
                        <a:t>7.245535899986862</a:t>
                      </a:r>
                      <a:endParaRPr>
                        <a:solidFill>
                          <a:schemeClr val="lt1"/>
                        </a:solidFill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lt1"/>
                          </a:solidFill>
                        </a:rPr>
                        <a:t>63.5475679999945</a:t>
                      </a:r>
                      <a:endParaRPr>
                        <a:solidFill>
                          <a:schemeClr val="lt1"/>
                        </a:solidFill>
                      </a:endParaRPr>
                    </a:p>
                  </a:txBody>
                  <a:tcPr marT="91425" marB="91425" marR="91425" marL="91425"/>
                </a:tc>
              </a:tr>
              <a:tr h="38455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lt1"/>
                          </a:solidFill>
                        </a:rPr>
                        <a:t>(1000x1000), (1000x1000)</a:t>
                      </a:r>
                      <a:endParaRPr>
                        <a:solidFill>
                          <a:schemeClr val="lt1"/>
                        </a:solidFill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lt1"/>
                          </a:solidFill>
                        </a:rPr>
                        <a:t>48.02211350000289</a:t>
                      </a:r>
                      <a:endParaRPr>
                        <a:solidFill>
                          <a:schemeClr val="lt1"/>
                        </a:solidFill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lt1"/>
                          </a:solidFill>
                        </a:rPr>
                        <a:t>373.92874740000116</a:t>
                      </a:r>
                      <a:endParaRPr>
                        <a:solidFill>
                          <a:schemeClr val="lt1"/>
                        </a:solidFill>
                      </a:endParaRPr>
                    </a:p>
                  </a:txBody>
                  <a:tcPr marT="91425" marB="91425" marR="91425" marL="91425"/>
                </a:tc>
              </a:tr>
              <a:tr h="38455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lt1"/>
                          </a:solidFill>
                        </a:rPr>
                        <a:t>(2000x2000), (2000x2000)</a:t>
                      </a:r>
                      <a:endParaRPr>
                        <a:solidFill>
                          <a:schemeClr val="lt1"/>
                        </a:solidFill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lt1"/>
                          </a:solidFill>
                        </a:rPr>
                        <a:t>434.61519439998665</a:t>
                      </a:r>
                      <a:endParaRPr>
                        <a:solidFill>
                          <a:schemeClr val="lt1"/>
                        </a:solidFill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lt1"/>
                          </a:solidFill>
                        </a:rPr>
                        <a:t>2505.734270999994</a:t>
                      </a:r>
                      <a:endParaRPr>
                        <a:solidFill>
                          <a:schemeClr val="lt1"/>
                        </a:solidFill>
                      </a:endParaRPr>
                    </a:p>
                  </a:txBody>
                  <a:tcPr marT="91425" marB="91425" marR="91425" marL="91425"/>
                </a:tc>
              </a:tr>
            </a:tbl>
          </a:graphicData>
        </a:graphic>
      </p:graphicFrame>
      <p:sp>
        <p:nvSpPr>
          <p:cNvPr id="239" name="Google Shape;239;p26"/>
          <p:cNvSpPr txBox="1"/>
          <p:nvPr/>
        </p:nvSpPr>
        <p:spPr>
          <a:xfrm>
            <a:off x="1322925" y="641338"/>
            <a:ext cx="1446300" cy="216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rPr>
              <a:t>Size of matrices</a:t>
            </a:r>
            <a:endParaRPr sz="1300">
              <a:solidFill>
                <a:schemeClr val="lt1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240" name="Google Shape;240;p26"/>
          <p:cNvSpPr txBox="1"/>
          <p:nvPr/>
        </p:nvSpPr>
        <p:spPr>
          <a:xfrm>
            <a:off x="3771756" y="608038"/>
            <a:ext cx="1805100" cy="28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rPr>
              <a:t>Standard Time(Sec)</a:t>
            </a:r>
            <a:endParaRPr sz="1300">
              <a:solidFill>
                <a:schemeClr val="lt1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241" name="Google Shape;241;p26"/>
          <p:cNvSpPr txBox="1"/>
          <p:nvPr/>
        </p:nvSpPr>
        <p:spPr>
          <a:xfrm>
            <a:off x="6258525" y="641338"/>
            <a:ext cx="1685400" cy="216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rPr>
              <a:t>Strassen Time(Sec)</a:t>
            </a:r>
            <a:endParaRPr sz="1300">
              <a:solidFill>
                <a:schemeClr val="lt1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242" name="Google Shape;242;p26"/>
          <p:cNvSpPr txBox="1"/>
          <p:nvPr/>
        </p:nvSpPr>
        <p:spPr>
          <a:xfrm>
            <a:off x="-108725" y="4871625"/>
            <a:ext cx="2762100" cy="435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rPr>
              <a:t>*All matrix values were set to 1</a:t>
            </a:r>
            <a:endParaRPr sz="1200">
              <a:solidFill>
                <a:schemeClr val="lt1"/>
              </a:solidFill>
              <a:latin typeface="Lato"/>
              <a:ea typeface="Lato"/>
              <a:cs typeface="Lato"/>
              <a:sym typeface="Lato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46" name="Shape 2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7" name="Google Shape;247;p27"/>
          <p:cNvSpPr txBox="1"/>
          <p:nvPr>
            <p:ph type="title"/>
          </p:nvPr>
        </p:nvSpPr>
        <p:spPr>
          <a:xfrm>
            <a:off x="1297500" y="393750"/>
            <a:ext cx="7038900" cy="914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Data as a Graph:</a:t>
            </a:r>
            <a:endParaRPr/>
          </a:p>
        </p:txBody>
      </p:sp>
      <p:sp>
        <p:nvSpPr>
          <p:cNvPr id="248" name="Google Shape;248;p27"/>
          <p:cNvSpPr txBox="1"/>
          <p:nvPr>
            <p:ph idx="1" type="body"/>
          </p:nvPr>
        </p:nvSpPr>
        <p:spPr>
          <a:xfrm>
            <a:off x="1297500" y="1567550"/>
            <a:ext cx="7038900" cy="291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pic>
        <p:nvPicPr>
          <p:cNvPr id="249" name="Google Shape;249;p2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026150" y="1012000"/>
            <a:ext cx="7943527" cy="35586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53" name="Shape 2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4" name="Google Shape;254;p28"/>
          <p:cNvSpPr txBox="1"/>
          <p:nvPr>
            <p:ph type="title"/>
          </p:nvPr>
        </p:nvSpPr>
        <p:spPr>
          <a:xfrm>
            <a:off x="1297500" y="393750"/>
            <a:ext cx="7038900" cy="914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What the Data Shows:</a:t>
            </a:r>
            <a:endParaRPr/>
          </a:p>
        </p:txBody>
      </p:sp>
      <p:sp>
        <p:nvSpPr>
          <p:cNvPr id="255" name="Google Shape;255;p28"/>
          <p:cNvSpPr txBox="1"/>
          <p:nvPr>
            <p:ph idx="1" type="body"/>
          </p:nvPr>
        </p:nvSpPr>
        <p:spPr>
          <a:xfrm>
            <a:off x="1297500" y="1186550"/>
            <a:ext cx="7038900" cy="291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 sz="1800"/>
              <a:t>At low input sizes the difference between standard and strassen is negligible at best.</a:t>
            </a:r>
            <a:endParaRPr sz="1800"/>
          </a:p>
          <a:p>
            <a:pPr indent="-3429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 sz="1800"/>
              <a:t>However, as n grows, strassen seems to become more ineffective.</a:t>
            </a:r>
            <a:endParaRPr sz="1800"/>
          </a:p>
          <a:p>
            <a:pPr indent="-3429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 sz="1800"/>
              <a:t>This is due to the overhead and recursive nature of Strassen.</a:t>
            </a:r>
            <a:endParaRPr sz="1800"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 sz="1800"/>
              <a:t>Because of this, Strassen doesn’t become practical to implement till you reach extremely high values of n.</a:t>
            </a:r>
            <a:endParaRPr sz="1800"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 sz="1800"/>
              <a:t>However, we are unable to get our program to reach these input sizes due to hardware limitations.</a:t>
            </a:r>
            <a:endParaRPr sz="180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59" name="Shape 2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0" name="Google Shape;260;p29"/>
          <p:cNvSpPr txBox="1"/>
          <p:nvPr>
            <p:ph type="title"/>
          </p:nvPr>
        </p:nvSpPr>
        <p:spPr>
          <a:xfrm>
            <a:off x="1297500" y="393750"/>
            <a:ext cx="7038900" cy="914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Final Thoughts</a:t>
            </a:r>
            <a:endParaRPr/>
          </a:p>
        </p:txBody>
      </p:sp>
      <p:sp>
        <p:nvSpPr>
          <p:cNvPr id="261" name="Google Shape;261;p29"/>
          <p:cNvSpPr txBox="1"/>
          <p:nvPr>
            <p:ph idx="1" type="body"/>
          </p:nvPr>
        </p:nvSpPr>
        <p:spPr>
          <a:xfrm>
            <a:off x="1177175" y="1186550"/>
            <a:ext cx="7038900" cy="3199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/>
              <a:t>Things we could have done differently:</a:t>
            </a:r>
            <a:endParaRPr sz="1800"/>
          </a:p>
          <a:p>
            <a:pPr indent="-342900" lvl="0" marL="457200" rtl="0" algn="l">
              <a:spcBef>
                <a:spcPts val="1200"/>
              </a:spcBef>
              <a:spcAft>
                <a:spcPts val="0"/>
              </a:spcAft>
              <a:buSzPts val="1800"/>
              <a:buChar char="●"/>
            </a:pPr>
            <a:r>
              <a:rPr lang="en" sz="1800"/>
              <a:t>Include more matrix multiplication algorithms</a:t>
            </a:r>
            <a:endParaRPr sz="1800"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 sz="1800"/>
              <a:t>Find a way to visualize the algorithm</a:t>
            </a:r>
            <a:endParaRPr sz="1800"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800"/>
              <a:t>Problems we faced:</a:t>
            </a:r>
            <a:endParaRPr sz="1800"/>
          </a:p>
          <a:p>
            <a:pPr indent="-342900" lvl="0" marL="457200" rtl="0" algn="l">
              <a:spcBef>
                <a:spcPts val="1200"/>
              </a:spcBef>
              <a:spcAft>
                <a:spcPts val="0"/>
              </a:spcAft>
              <a:buSzPts val="1800"/>
              <a:buChar char="●"/>
            </a:pPr>
            <a:r>
              <a:rPr lang="en" sz="1800"/>
              <a:t>Hardware limitations</a:t>
            </a:r>
            <a:endParaRPr sz="1800"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 sz="1800"/>
              <a:t>Finding times to meet and work on the project</a:t>
            </a:r>
            <a:endParaRPr sz="1800"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800"/>
              <a:t>Things that went well:</a:t>
            </a:r>
            <a:endParaRPr sz="1800"/>
          </a:p>
          <a:p>
            <a:pPr indent="-342900" lvl="0" marL="457200" rtl="0" algn="l">
              <a:spcBef>
                <a:spcPts val="1200"/>
              </a:spcBef>
              <a:spcAft>
                <a:spcPts val="0"/>
              </a:spcAft>
              <a:buSzPts val="1800"/>
              <a:buChar char="●"/>
            </a:pPr>
            <a:r>
              <a:rPr lang="en" sz="1800"/>
              <a:t>Creating the code for the algorithms</a:t>
            </a:r>
            <a:endParaRPr sz="1800"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 sz="1800"/>
              <a:t>Collecting and interpreting the data gathered</a:t>
            </a:r>
            <a:endParaRPr sz="180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65" name="Shape 2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" name="Google Shape;266;p30"/>
          <p:cNvSpPr txBox="1"/>
          <p:nvPr>
            <p:ph type="title"/>
          </p:nvPr>
        </p:nvSpPr>
        <p:spPr>
          <a:xfrm>
            <a:off x="1297500" y="393750"/>
            <a:ext cx="7038900" cy="914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Sources</a:t>
            </a:r>
            <a:endParaRPr/>
          </a:p>
        </p:txBody>
      </p:sp>
      <p:sp>
        <p:nvSpPr>
          <p:cNvPr id="267" name="Google Shape;267;p30"/>
          <p:cNvSpPr txBox="1"/>
          <p:nvPr>
            <p:ph idx="1" type="body"/>
          </p:nvPr>
        </p:nvSpPr>
        <p:spPr>
          <a:xfrm>
            <a:off x="1297500" y="1567550"/>
            <a:ext cx="7038900" cy="291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85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Matrix Multiplication Gif</a:t>
            </a:r>
            <a:r>
              <a:rPr lang="en"/>
              <a:t> - </a:t>
            </a:r>
            <a:r>
              <a:rPr lang="en" u="sng">
                <a:solidFill>
                  <a:schemeClr val="hlink"/>
                </a:solidFill>
                <a:hlinkClick r:id="rId3"/>
              </a:rPr>
              <a:t>https://www.learnpdc.org/PDCBeginners/5-applications/matrix-multiply.html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Graph - </a:t>
            </a:r>
            <a:r>
              <a:rPr lang="en" u="sng">
                <a:solidFill>
                  <a:schemeClr val="hlink"/>
                </a:solidFill>
                <a:hlinkClick r:id="rId4"/>
              </a:rPr>
              <a:t>https://www.desmos.com/calculator</a:t>
            </a:r>
            <a:r>
              <a:rPr lang="en"/>
              <a:t> 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Pie Chart - </a:t>
            </a:r>
            <a:r>
              <a:rPr lang="en" u="sng">
                <a:solidFill>
                  <a:schemeClr val="hlink"/>
                </a:solidFill>
                <a:hlinkClick r:id="rId5"/>
              </a:rPr>
              <a:t>https://www.meta-chart.com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Neural Network image - </a:t>
            </a:r>
            <a:r>
              <a:rPr lang="en" u="sng">
                <a:solidFill>
                  <a:schemeClr val="hlink"/>
                </a:solidFill>
                <a:hlinkClick r:id="rId6"/>
              </a:rPr>
              <a:t>https://www.jeremyjordan.me/intro-to-neural-networks/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Abe Lincoln image -  </a:t>
            </a:r>
            <a:r>
              <a:rPr lang="en" u="sng">
                <a:solidFill>
                  <a:schemeClr val="hlink"/>
                </a:solidFill>
                <a:hlinkClick r:id="rId7"/>
              </a:rPr>
              <a:t>https://www.researchgate.net/figure/mage-of-Abraham-Lincoln-as-a-matrix-of-pixel-values_fig1_330902210</a:t>
            </a:r>
            <a:r>
              <a:rPr lang="en"/>
              <a:t> 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71" name="Shape 2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2" name="Google Shape;272;p31"/>
          <p:cNvSpPr txBox="1"/>
          <p:nvPr>
            <p:ph type="title"/>
          </p:nvPr>
        </p:nvSpPr>
        <p:spPr>
          <a:xfrm>
            <a:off x="1297500" y="393750"/>
            <a:ext cx="7038900" cy="914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Who did what</a:t>
            </a:r>
            <a:endParaRPr/>
          </a:p>
        </p:txBody>
      </p:sp>
      <p:sp>
        <p:nvSpPr>
          <p:cNvPr id="273" name="Google Shape;273;p31"/>
          <p:cNvSpPr txBox="1"/>
          <p:nvPr>
            <p:ph idx="1" type="body"/>
          </p:nvPr>
        </p:nvSpPr>
        <p:spPr>
          <a:xfrm>
            <a:off x="1297500" y="1567550"/>
            <a:ext cx="7038900" cy="291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sp>
        <p:nvSpPr>
          <p:cNvPr id="274" name="Google Shape;274;p31"/>
          <p:cNvSpPr/>
          <p:nvPr/>
        </p:nvSpPr>
        <p:spPr>
          <a:xfrm>
            <a:off x="1297425" y="1298375"/>
            <a:ext cx="6686400" cy="3099300"/>
          </a:xfrm>
          <a:prstGeom prst="rect">
            <a:avLst/>
          </a:prstGeom>
          <a:solidFill>
            <a:schemeClr val="lt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ato"/>
              <a:ea typeface="Lato"/>
              <a:cs typeface="Lato"/>
              <a:sym typeface="Lato"/>
            </a:endParaRPr>
          </a:p>
        </p:txBody>
      </p:sp>
      <p:pic>
        <p:nvPicPr>
          <p:cNvPr id="275" name="Google Shape;275;p31" title="pie (1)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071750" y="831100"/>
            <a:ext cx="7490401" cy="3764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Focus">
  <a:themeElements>
    <a:clrScheme name="Focus">
      <a:dk1>
        <a:srgbClr val="1B212C"/>
      </a:dk1>
      <a:lt1>
        <a:srgbClr val="FFFFFF"/>
      </a:lt1>
      <a:dk2>
        <a:srgbClr val="D9D9D9"/>
      </a:dk2>
      <a:lt2>
        <a:srgbClr val="82C7A5"/>
      </a:lt2>
      <a:accent1>
        <a:srgbClr val="0145AC"/>
      </a:accent1>
      <a:accent2>
        <a:srgbClr val="EECE1A"/>
      </a:accent2>
      <a:accent3>
        <a:srgbClr val="4E5567"/>
      </a:accent3>
      <a:accent4>
        <a:srgbClr val="F4D6AD"/>
      </a:accent4>
      <a:accent5>
        <a:srgbClr val="7890CD"/>
      </a:accent5>
      <a:accent6>
        <a:srgbClr val="F15E22"/>
      </a:accent6>
      <a:hlink>
        <a:srgbClr val="7890CD"/>
      </a:hlink>
      <a:folHlink>
        <a:srgbClr val="7890CD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